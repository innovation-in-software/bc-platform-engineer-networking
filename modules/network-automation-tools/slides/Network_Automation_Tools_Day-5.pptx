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4"/>
  </p:sldMasterIdLst>
  <p:notesMasterIdLst>
    <p:notesMasterId r:id="rId65"/>
  </p:notesMasterIdLst>
  <p:handoutMasterIdLst>
    <p:handoutMasterId r:id="rId66"/>
  </p:handoutMasterIdLst>
  <p:sldIdLst>
    <p:sldId id="5200" r:id="rId5"/>
    <p:sldId id="5201" r:id="rId6"/>
    <p:sldId id="5202" r:id="rId7"/>
    <p:sldId id="5203" r:id="rId8"/>
    <p:sldId id="5204" r:id="rId9"/>
    <p:sldId id="5205" r:id="rId10"/>
    <p:sldId id="5206" r:id="rId11"/>
    <p:sldId id="5207" r:id="rId12"/>
    <p:sldId id="5208" r:id="rId13"/>
    <p:sldId id="5209" r:id="rId14"/>
    <p:sldId id="5210" r:id="rId15"/>
    <p:sldId id="5211" r:id="rId16"/>
    <p:sldId id="5212" r:id="rId17"/>
    <p:sldId id="5213" r:id="rId18"/>
    <p:sldId id="5214" r:id="rId19"/>
    <p:sldId id="5215" r:id="rId20"/>
    <p:sldId id="5216" r:id="rId21"/>
    <p:sldId id="5217" r:id="rId22"/>
    <p:sldId id="5218" r:id="rId23"/>
    <p:sldId id="5219" r:id="rId24"/>
    <p:sldId id="5220" r:id="rId25"/>
    <p:sldId id="5221" r:id="rId26"/>
    <p:sldId id="5222" r:id="rId27"/>
    <p:sldId id="5223" r:id="rId28"/>
    <p:sldId id="5224" r:id="rId29"/>
    <p:sldId id="5225" r:id="rId30"/>
    <p:sldId id="5226" r:id="rId31"/>
    <p:sldId id="5227" r:id="rId32"/>
    <p:sldId id="5228" r:id="rId33"/>
    <p:sldId id="5229" r:id="rId34"/>
    <p:sldId id="5230" r:id="rId35"/>
    <p:sldId id="5231" r:id="rId36"/>
    <p:sldId id="5232" r:id="rId37"/>
    <p:sldId id="5233" r:id="rId38"/>
    <p:sldId id="5234" r:id="rId39"/>
    <p:sldId id="5235" r:id="rId40"/>
    <p:sldId id="5236" r:id="rId41"/>
    <p:sldId id="5237" r:id="rId42"/>
    <p:sldId id="5238" r:id="rId43"/>
    <p:sldId id="5239" r:id="rId44"/>
    <p:sldId id="5240" r:id="rId45"/>
    <p:sldId id="5241" r:id="rId46"/>
    <p:sldId id="5242" r:id="rId47"/>
    <p:sldId id="5243" r:id="rId48"/>
    <p:sldId id="5244" r:id="rId49"/>
    <p:sldId id="5245" r:id="rId50"/>
    <p:sldId id="5246" r:id="rId51"/>
    <p:sldId id="5247" r:id="rId52"/>
    <p:sldId id="5248" r:id="rId53"/>
    <p:sldId id="5249" r:id="rId54"/>
    <p:sldId id="5250" r:id="rId55"/>
    <p:sldId id="5251" r:id="rId56"/>
    <p:sldId id="5252" r:id="rId57"/>
    <p:sldId id="5253" r:id="rId58"/>
    <p:sldId id="5254" r:id="rId59"/>
    <p:sldId id="5255" r:id="rId60"/>
    <p:sldId id="5256" r:id="rId61"/>
    <p:sldId id="5257" r:id="rId62"/>
    <p:sldId id="5258" r:id="rId63"/>
    <p:sldId id="5259" r:id="rId6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oduction" id="{DF6D6B3A-AE01-3D4B-83F8-037D656A1ACB}">
          <p14:sldIdLst>
            <p14:sldId id="5200"/>
            <p14:sldId id="5201"/>
            <p14:sldId id="5202"/>
            <p14:sldId id="5203"/>
            <p14:sldId id="5204"/>
            <p14:sldId id="5205"/>
            <p14:sldId id="5206"/>
            <p14:sldId id="5207"/>
            <p14:sldId id="5208"/>
            <p14:sldId id="5209"/>
            <p14:sldId id="5210"/>
            <p14:sldId id="5211"/>
            <p14:sldId id="5212"/>
            <p14:sldId id="5213"/>
            <p14:sldId id="5214"/>
            <p14:sldId id="5215"/>
            <p14:sldId id="5216"/>
            <p14:sldId id="5217"/>
            <p14:sldId id="5218"/>
            <p14:sldId id="5219"/>
            <p14:sldId id="5220"/>
            <p14:sldId id="5221"/>
            <p14:sldId id="5222"/>
            <p14:sldId id="5223"/>
            <p14:sldId id="5224"/>
            <p14:sldId id="5225"/>
            <p14:sldId id="5226"/>
            <p14:sldId id="5227"/>
            <p14:sldId id="5228"/>
            <p14:sldId id="5229"/>
            <p14:sldId id="5230"/>
            <p14:sldId id="5231"/>
            <p14:sldId id="5232"/>
            <p14:sldId id="5233"/>
            <p14:sldId id="5234"/>
            <p14:sldId id="5235"/>
            <p14:sldId id="5236"/>
            <p14:sldId id="5237"/>
            <p14:sldId id="5238"/>
            <p14:sldId id="5239"/>
            <p14:sldId id="5240"/>
            <p14:sldId id="5241"/>
            <p14:sldId id="5242"/>
            <p14:sldId id="5243"/>
            <p14:sldId id="5244"/>
            <p14:sldId id="5245"/>
            <p14:sldId id="5246"/>
            <p14:sldId id="5247"/>
            <p14:sldId id="5248"/>
            <p14:sldId id="5249"/>
            <p14:sldId id="5250"/>
            <p14:sldId id="5251"/>
            <p14:sldId id="5252"/>
            <p14:sldId id="5253"/>
            <p14:sldId id="5254"/>
            <p14:sldId id="5255"/>
            <p14:sldId id="5256"/>
            <p14:sldId id="5257"/>
            <p14:sldId id="5258"/>
            <p14:sldId id="5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is Dell" initials="DD" lastIdx="20" clrIdx="0">
    <p:extLst>
      <p:ext uri="{19B8F6BF-5375-455C-9EA6-DF929625EA0E}">
        <p15:presenceInfo xmlns:p15="http://schemas.microsoft.com/office/powerpoint/2012/main" userId="Donis Dell" providerId="None"/>
      </p:ext>
    </p:extLst>
  </p:cmAuthor>
  <p:cmAuthor id="2" name="Donis Marshall" initials="DM" lastIdx="2" clrIdx="1">
    <p:extLst>
      <p:ext uri="{19B8F6BF-5375-455C-9EA6-DF929625EA0E}">
        <p15:presenceInfo xmlns:p15="http://schemas.microsoft.com/office/powerpoint/2012/main" userId="5344b77e839037a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282E"/>
    <a:srgbClr val="DCE2EF"/>
    <a:srgbClr val="FFFFFF"/>
    <a:srgbClr val="7A7A7A"/>
    <a:srgbClr val="000000"/>
    <a:srgbClr val="BAC5DF"/>
    <a:srgbClr val="FFFF00"/>
    <a:srgbClr val="F8F8F8"/>
    <a:srgbClr val="FFE996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80"/>
    <p:restoredTop sz="76918" autoAdjust="0"/>
  </p:normalViewPr>
  <p:slideViewPr>
    <p:cSldViewPr snapToGrid="0">
      <p:cViewPr varScale="1">
        <p:scale>
          <a:sx n="96" d="100"/>
          <a:sy n="96" d="100"/>
        </p:scale>
        <p:origin x="68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Pisarski" userId="d02b65583013a7bc" providerId="LiveId" clId="{C8F6ED65-30DA-4A82-8BCB-159659A529E9}"/>
    <pc:docChg chg="undo custSel addSld delSld modSld sldOrd modSection">
      <pc:chgData name="Christophe Pisarski" userId="d02b65583013a7bc" providerId="LiveId" clId="{C8F6ED65-30DA-4A82-8BCB-159659A529E9}" dt="2025-11-03T20:51:46.319" v="1043"/>
      <pc:docMkLst>
        <pc:docMk/>
      </pc:docMkLst>
      <pc:sldChg chg="modSp add mod">
        <pc:chgData name="Christophe Pisarski" userId="d02b65583013a7bc" providerId="LiveId" clId="{C8F6ED65-30DA-4A82-8BCB-159659A529E9}" dt="2025-11-03T20:50:38.626" v="1027" actId="15"/>
        <pc:sldMkLst>
          <pc:docMk/>
          <pc:sldMk cId="1269055248" sldId="5323"/>
        </pc:sldMkLst>
        <pc:spChg chg="mod">
          <ac:chgData name="Christophe Pisarski" userId="d02b65583013a7bc" providerId="LiveId" clId="{C8F6ED65-30DA-4A82-8BCB-159659A529E9}" dt="2025-11-03T20:50:38.626" v="1027" actId="15"/>
          <ac:spMkLst>
            <pc:docMk/>
            <pc:sldMk cId="1269055248" sldId="5323"/>
            <ac:spMk id="4" creationId="{287F0F74-8156-3987-3F21-08B99EC825AE}"/>
          </ac:spMkLst>
        </pc:spChg>
      </pc:sldChg>
      <pc:sldChg chg="modSp add mod">
        <pc:chgData name="Christophe Pisarski" userId="d02b65583013a7bc" providerId="LiveId" clId="{C8F6ED65-30DA-4A82-8BCB-159659A529E9}" dt="2025-11-03T20:08:39.406" v="986"/>
        <pc:sldMkLst>
          <pc:docMk/>
          <pc:sldMk cId="2838373956" sldId="5419"/>
        </pc:sldMkLst>
        <pc:spChg chg="mod">
          <ac:chgData name="Christophe Pisarski" userId="d02b65583013a7bc" providerId="LiveId" clId="{C8F6ED65-30DA-4A82-8BCB-159659A529E9}" dt="2025-11-03T20:08:39.406" v="986"/>
          <ac:spMkLst>
            <pc:docMk/>
            <pc:sldMk cId="2838373956" sldId="5419"/>
            <ac:spMk id="3" creationId="{88493897-AFE4-89FB-8E44-9A54B2437565}"/>
          </ac:spMkLst>
        </pc:spChg>
      </pc:sldChg>
      <pc:sldChg chg="modSp add mod">
        <pc:chgData name="Christophe Pisarski" userId="d02b65583013a7bc" providerId="LiveId" clId="{C8F6ED65-30DA-4A82-8BCB-159659A529E9}" dt="2025-11-03T19:04:54.489" v="978"/>
        <pc:sldMkLst>
          <pc:docMk/>
          <pc:sldMk cId="1789927104" sldId="5420"/>
        </pc:sldMkLst>
        <pc:spChg chg="mod">
          <ac:chgData name="Christophe Pisarski" userId="d02b65583013a7bc" providerId="LiveId" clId="{C8F6ED65-30DA-4A82-8BCB-159659A529E9}" dt="2025-11-03T19:04:54.489" v="978"/>
          <ac:spMkLst>
            <pc:docMk/>
            <pc:sldMk cId="1789927104" sldId="5420"/>
            <ac:spMk id="3" creationId="{88493897-AFE4-89FB-8E44-9A54B2437565}"/>
          </ac:spMkLst>
        </pc:spChg>
      </pc:sldChg>
      <pc:sldChg chg="modSp add mod">
        <pc:chgData name="Christophe Pisarski" userId="d02b65583013a7bc" providerId="LiveId" clId="{C8F6ED65-30DA-4A82-8BCB-159659A529E9}" dt="2025-11-03T19:05:07.791" v="982"/>
        <pc:sldMkLst>
          <pc:docMk/>
          <pc:sldMk cId="2212894656" sldId="5421"/>
        </pc:sldMkLst>
        <pc:spChg chg="mod">
          <ac:chgData name="Christophe Pisarski" userId="d02b65583013a7bc" providerId="LiveId" clId="{C8F6ED65-30DA-4A82-8BCB-159659A529E9}" dt="2025-11-03T19:05:07.791" v="982"/>
          <ac:spMkLst>
            <pc:docMk/>
            <pc:sldMk cId="2212894656" sldId="5421"/>
            <ac:spMk id="3" creationId="{88493897-AFE4-89FB-8E44-9A54B2437565}"/>
          </ac:spMkLst>
        </pc:spChg>
      </pc:sldChg>
      <pc:sldChg chg="modSp add mod">
        <pc:chgData name="Christophe Pisarski" userId="d02b65583013a7bc" providerId="LiveId" clId="{C8F6ED65-30DA-4A82-8BCB-159659A529E9}" dt="2025-11-03T20:11:27.130" v="996"/>
        <pc:sldMkLst>
          <pc:docMk/>
          <pc:sldMk cId="1948781550" sldId="5422"/>
        </pc:sldMkLst>
        <pc:spChg chg="mod">
          <ac:chgData name="Christophe Pisarski" userId="d02b65583013a7bc" providerId="LiveId" clId="{C8F6ED65-30DA-4A82-8BCB-159659A529E9}" dt="2025-11-03T20:11:27.130" v="996"/>
          <ac:spMkLst>
            <pc:docMk/>
            <pc:sldMk cId="1948781550" sldId="5422"/>
            <ac:spMk id="3" creationId="{3F20C819-E920-9640-8708-4F9E5C2C241C}"/>
          </ac:spMkLst>
        </pc:spChg>
      </pc:sldChg>
      <pc:sldChg chg="modSp add mod ord">
        <pc:chgData name="Christophe Pisarski" userId="d02b65583013a7bc" providerId="LiveId" clId="{C8F6ED65-30DA-4A82-8BCB-159659A529E9}" dt="2025-11-03T20:10:37.522" v="992"/>
        <pc:sldMkLst>
          <pc:docMk/>
          <pc:sldMk cId="921373599" sldId="5423"/>
        </pc:sldMkLst>
        <pc:spChg chg="mod">
          <ac:chgData name="Christophe Pisarski" userId="d02b65583013a7bc" providerId="LiveId" clId="{C8F6ED65-30DA-4A82-8BCB-159659A529E9}" dt="2025-11-03T20:10:28.197" v="990"/>
          <ac:spMkLst>
            <pc:docMk/>
            <pc:sldMk cId="921373599" sldId="5423"/>
            <ac:spMk id="3" creationId="{0831CFFE-2DA1-7DA9-AD74-A5717AC17359}"/>
          </ac:spMkLst>
        </pc:spChg>
      </pc:sldChg>
      <pc:sldChg chg="modSp add mod">
        <pc:chgData name="Christophe Pisarski" userId="d02b65583013a7bc" providerId="LiveId" clId="{C8F6ED65-30DA-4A82-8BCB-159659A529E9}" dt="2025-11-03T20:12:31.853" v="1008"/>
        <pc:sldMkLst>
          <pc:docMk/>
          <pc:sldMk cId="1821725136" sldId="5424"/>
        </pc:sldMkLst>
        <pc:spChg chg="mod">
          <ac:chgData name="Christophe Pisarski" userId="d02b65583013a7bc" providerId="LiveId" clId="{C8F6ED65-30DA-4A82-8BCB-159659A529E9}" dt="2025-11-03T20:12:31.853" v="1008"/>
          <ac:spMkLst>
            <pc:docMk/>
            <pc:sldMk cId="1821725136" sldId="5424"/>
            <ac:spMk id="3" creationId="{5C8F29A5-4E71-E105-8886-C6D2F22137B5}"/>
          </ac:spMkLst>
        </pc:spChg>
      </pc:sldChg>
      <pc:sldChg chg="modSp add mod">
        <pc:chgData name="Christophe Pisarski" userId="d02b65583013a7bc" providerId="LiveId" clId="{C8F6ED65-30DA-4A82-8BCB-159659A529E9}" dt="2025-11-03T20:13:32.487" v="1013"/>
        <pc:sldMkLst>
          <pc:docMk/>
          <pc:sldMk cId="3785603568" sldId="5425"/>
        </pc:sldMkLst>
        <pc:spChg chg="mod">
          <ac:chgData name="Christophe Pisarski" userId="d02b65583013a7bc" providerId="LiveId" clId="{C8F6ED65-30DA-4A82-8BCB-159659A529E9}" dt="2025-11-03T20:13:32.487" v="1013"/>
          <ac:spMkLst>
            <pc:docMk/>
            <pc:sldMk cId="3785603568" sldId="5425"/>
            <ac:spMk id="3" creationId="{51688AB2-DE8D-E6FA-870F-75D8C46C2DB3}"/>
          </ac:spMkLst>
        </pc:spChg>
      </pc:sldChg>
      <pc:sldChg chg="modSp add mod">
        <pc:chgData name="Christophe Pisarski" userId="d02b65583013a7bc" providerId="LiveId" clId="{C8F6ED65-30DA-4A82-8BCB-159659A529E9}" dt="2025-11-03T20:50:05.844" v="1022" actId="15"/>
        <pc:sldMkLst>
          <pc:docMk/>
          <pc:sldMk cId="2845436603" sldId="5426"/>
        </pc:sldMkLst>
        <pc:spChg chg="mod">
          <ac:chgData name="Christophe Pisarski" userId="d02b65583013a7bc" providerId="LiveId" clId="{C8F6ED65-30DA-4A82-8BCB-159659A529E9}" dt="2025-11-03T20:50:05.844" v="1022" actId="15"/>
          <ac:spMkLst>
            <pc:docMk/>
            <pc:sldMk cId="2845436603" sldId="5426"/>
            <ac:spMk id="4" creationId="{291F868F-8620-18F8-FC39-5FB41C5BF454}"/>
          </ac:spMkLst>
        </pc:spChg>
        <pc:spChg chg="mod">
          <ac:chgData name="Christophe Pisarski" userId="d02b65583013a7bc" providerId="LiveId" clId="{C8F6ED65-30DA-4A82-8BCB-159659A529E9}" dt="2025-11-03T20:49:56.543" v="1017" actId="20577"/>
          <ac:spMkLst>
            <pc:docMk/>
            <pc:sldMk cId="2845436603" sldId="5426"/>
            <ac:spMk id="10" creationId="{F932C9E3-254A-5BF3-4DE0-BD5EA1CB7B11}"/>
          </ac:spMkLst>
        </pc:spChg>
      </pc:sldChg>
      <pc:sldChg chg="modSp add mod">
        <pc:chgData name="Christophe Pisarski" userId="d02b65583013a7bc" providerId="LiveId" clId="{C8F6ED65-30DA-4A82-8BCB-159659A529E9}" dt="2025-11-03T20:51:30.986" v="1036"/>
        <pc:sldMkLst>
          <pc:docMk/>
          <pc:sldMk cId="2494933271" sldId="5427"/>
        </pc:sldMkLst>
        <pc:spChg chg="mod">
          <ac:chgData name="Christophe Pisarski" userId="d02b65583013a7bc" providerId="LiveId" clId="{C8F6ED65-30DA-4A82-8BCB-159659A529E9}" dt="2025-11-03T20:51:26.314" v="1035" actId="15"/>
          <ac:spMkLst>
            <pc:docMk/>
            <pc:sldMk cId="2494933271" sldId="5427"/>
            <ac:spMk id="4" creationId="{83CCDBEC-751E-52F4-FC4D-46868ACFC7A2}"/>
          </ac:spMkLst>
        </pc:spChg>
        <pc:spChg chg="mod">
          <ac:chgData name="Christophe Pisarski" userId="d02b65583013a7bc" providerId="LiveId" clId="{C8F6ED65-30DA-4A82-8BCB-159659A529E9}" dt="2025-11-03T20:51:30.986" v="1036"/>
          <ac:spMkLst>
            <pc:docMk/>
            <pc:sldMk cId="2494933271" sldId="5427"/>
            <ac:spMk id="10" creationId="{3FBE99C7-1D3E-CE41-2C10-BABB37520FEE}"/>
          </ac:spMkLst>
        </pc:spChg>
      </pc:sldChg>
      <pc:sldChg chg="modSp add mod">
        <pc:chgData name="Christophe Pisarski" userId="d02b65583013a7bc" providerId="LiveId" clId="{C8F6ED65-30DA-4A82-8BCB-159659A529E9}" dt="2025-11-03T20:51:46.319" v="1043"/>
        <pc:sldMkLst>
          <pc:docMk/>
          <pc:sldMk cId="299369119" sldId="5428"/>
        </pc:sldMkLst>
        <pc:spChg chg="mod">
          <ac:chgData name="Christophe Pisarski" userId="d02b65583013a7bc" providerId="LiveId" clId="{C8F6ED65-30DA-4A82-8BCB-159659A529E9}" dt="2025-11-03T20:51:41.944" v="1042" actId="15"/>
          <ac:spMkLst>
            <pc:docMk/>
            <pc:sldMk cId="299369119" sldId="5428"/>
            <ac:spMk id="4" creationId="{287868ED-2DE1-4CAB-DE44-D0558F832AD4}"/>
          </ac:spMkLst>
        </pc:spChg>
        <pc:spChg chg="mod">
          <ac:chgData name="Christophe Pisarski" userId="d02b65583013a7bc" providerId="LiveId" clId="{C8F6ED65-30DA-4A82-8BCB-159659A529E9}" dt="2025-11-03T20:51:46.319" v="1043"/>
          <ac:spMkLst>
            <pc:docMk/>
            <pc:sldMk cId="299369119" sldId="5428"/>
            <ac:spMk id="10" creationId="{76C88917-0FC2-9E7F-43F6-63B5802EDD37}"/>
          </ac:spMkLst>
        </pc:spChg>
      </pc:sldChg>
    </pc:docChg>
  </pc:docChgLst>
  <pc:docChgLst>
    <pc:chgData name="Christophe Pisarski" userId="S::chris.pisarski@opscosolutions.com::a3bc632b-29a9-457b-a7a6-086e990bc5ce" providerId="AD" clId="Web-{05D6C9EA-54CD-37A3-3894-F981A69EFAD1}"/>
    <pc:docChg chg="addSld delSld modSld sldOrd modSection">
      <pc:chgData name="Christophe Pisarski" userId="S::chris.pisarski@opscosolutions.com::a3bc632b-29a9-457b-a7a6-086e990bc5ce" providerId="AD" clId="Web-{05D6C9EA-54CD-37A3-3894-F981A69EFAD1}" dt="2025-11-04T20:17:23.098" v="19" actId="20577"/>
      <pc:docMkLst>
        <pc:docMk/>
      </pc:docMkLst>
      <pc:sldChg chg="modSp ord">
        <pc:chgData name="Christophe Pisarski" userId="S::chris.pisarski@opscosolutions.com::a3bc632b-29a9-457b-a7a6-086e990bc5ce" providerId="AD" clId="Web-{05D6C9EA-54CD-37A3-3894-F981A69EFAD1}" dt="2025-11-04T20:16:30.518" v="12" actId="20577"/>
        <pc:sldMkLst>
          <pc:docMk/>
          <pc:sldMk cId="2212894656" sldId="5421"/>
        </pc:sldMkLst>
        <pc:spChg chg="mod">
          <ac:chgData name="Christophe Pisarski" userId="S::chris.pisarski@opscosolutions.com::a3bc632b-29a9-457b-a7a6-086e990bc5ce" providerId="AD" clId="Web-{05D6C9EA-54CD-37A3-3894-F981A69EFAD1}" dt="2025-11-04T20:16:30.518" v="12" actId="20577"/>
          <ac:spMkLst>
            <pc:docMk/>
            <pc:sldMk cId="2212894656" sldId="5421"/>
            <ac:spMk id="3" creationId="{88493897-AFE4-89FB-8E44-9A54B2437565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5:31.203" v="8" actId="20577"/>
        <pc:sldMkLst>
          <pc:docMk/>
          <pc:sldMk cId="1407374015" sldId="5429"/>
        </pc:sldMkLst>
        <pc:spChg chg="mod">
          <ac:chgData name="Christophe Pisarski" userId="S::chris.pisarski@opscosolutions.com::a3bc632b-29a9-457b-a7a6-086e990bc5ce" providerId="AD" clId="Web-{05D6C9EA-54CD-37A3-3894-F981A69EFAD1}" dt="2025-11-04T20:15:31.203" v="8" actId="20577"/>
          <ac:spMkLst>
            <pc:docMk/>
            <pc:sldMk cId="1407374015" sldId="5429"/>
            <ac:spMk id="3" creationId="{CDF3282E-9689-A628-FF40-04153F85D49E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5:47.985" v="9" actId="20577"/>
        <pc:sldMkLst>
          <pc:docMk/>
          <pc:sldMk cId="2050092000" sldId="5430"/>
        </pc:sldMkLst>
        <pc:spChg chg="mod">
          <ac:chgData name="Christophe Pisarski" userId="S::chris.pisarski@opscosolutions.com::a3bc632b-29a9-457b-a7a6-086e990bc5ce" providerId="AD" clId="Web-{05D6C9EA-54CD-37A3-3894-F981A69EFAD1}" dt="2025-11-04T20:15:47.985" v="9" actId="20577"/>
          <ac:spMkLst>
            <pc:docMk/>
            <pc:sldMk cId="2050092000" sldId="5430"/>
            <ac:spMk id="3" creationId="{C99F0B6E-46A6-7F92-FA40-1BA7BCBBD04C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6:32.940" v="13" actId="20577"/>
        <pc:sldMkLst>
          <pc:docMk/>
          <pc:sldMk cId="3662756667" sldId="5431"/>
        </pc:sldMkLst>
        <pc:spChg chg="mod">
          <ac:chgData name="Christophe Pisarski" userId="S::chris.pisarski@opscosolutions.com::a3bc632b-29a9-457b-a7a6-086e990bc5ce" providerId="AD" clId="Web-{05D6C9EA-54CD-37A3-3894-F981A69EFAD1}" dt="2025-11-04T20:16:32.940" v="13" actId="20577"/>
          <ac:spMkLst>
            <pc:docMk/>
            <pc:sldMk cId="3662756667" sldId="5431"/>
            <ac:spMk id="3" creationId="{3E6D56CC-6649-E7CD-458E-9A08DD167A5E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6:53.191" v="17" actId="20577"/>
        <pc:sldMkLst>
          <pc:docMk/>
          <pc:sldMk cId="2548019104" sldId="5432"/>
        </pc:sldMkLst>
        <pc:spChg chg="mod">
          <ac:chgData name="Christophe Pisarski" userId="S::chris.pisarski@opscosolutions.com::a3bc632b-29a9-457b-a7a6-086e990bc5ce" providerId="AD" clId="Web-{05D6C9EA-54CD-37A3-3894-F981A69EFAD1}" dt="2025-11-04T20:16:53.191" v="17" actId="20577"/>
          <ac:spMkLst>
            <pc:docMk/>
            <pc:sldMk cId="2548019104" sldId="5432"/>
            <ac:spMk id="3" creationId="{E3F7E5A8-70FA-23E9-8139-6E78FDDD1C10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7:02.019" v="18" actId="20577"/>
        <pc:sldMkLst>
          <pc:docMk/>
          <pc:sldMk cId="425596026" sldId="5433"/>
        </pc:sldMkLst>
        <pc:spChg chg="mod">
          <ac:chgData name="Christophe Pisarski" userId="S::chris.pisarski@opscosolutions.com::a3bc632b-29a9-457b-a7a6-086e990bc5ce" providerId="AD" clId="Web-{05D6C9EA-54CD-37A3-3894-F981A69EFAD1}" dt="2025-11-04T20:17:02.019" v="18" actId="20577"/>
          <ac:spMkLst>
            <pc:docMk/>
            <pc:sldMk cId="425596026" sldId="5433"/>
            <ac:spMk id="3" creationId="{BEF4A805-04CA-7BF0-5E79-8669750B008D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7:23.098" v="19" actId="20577"/>
        <pc:sldMkLst>
          <pc:docMk/>
          <pc:sldMk cId="1887911048" sldId="5434"/>
        </pc:sldMkLst>
        <pc:spChg chg="mod">
          <ac:chgData name="Christophe Pisarski" userId="S::chris.pisarski@opscosolutions.com::a3bc632b-29a9-457b-a7a6-086e990bc5ce" providerId="AD" clId="Web-{05D6C9EA-54CD-37A3-3894-F981A69EFAD1}" dt="2025-11-04T20:17:23.098" v="19" actId="20577"/>
          <ac:spMkLst>
            <pc:docMk/>
            <pc:sldMk cId="1887911048" sldId="5434"/>
            <ac:spMk id="3" creationId="{C102FF38-813B-3A07-699B-6E0086AE63DB}"/>
          </ac:spMkLst>
        </pc:spChg>
      </pc:sldChg>
    </pc:docChg>
  </pc:docChgLst>
  <pc:docChgLst>
    <pc:chgData name="Daniel Blanco" userId="S::daniel@opscosolutions.com::617a8655-ec2c-44e5-b2ee-a4e2490e9763" providerId="AD" clId="Web-{933B9EBF-00E0-7818-4370-7608D01E78B3}"/>
    <pc:docChg chg="addSld modSection">
      <pc:chgData name="Daniel Blanco" userId="S::daniel@opscosolutions.com::617a8655-ec2c-44e5-b2ee-a4e2490e9763" providerId="AD" clId="Web-{933B9EBF-00E0-7818-4370-7608D01E78B3}" dt="2025-11-20T18:10:56.979" v="0"/>
      <pc:docMkLst>
        <pc:docMk/>
      </pc:docMkLst>
      <pc:sldChg chg="add">
        <pc:chgData name="Daniel Blanco" userId="S::daniel@opscosolutions.com::617a8655-ec2c-44e5-b2ee-a4e2490e9763" providerId="AD" clId="Web-{933B9EBF-00E0-7818-4370-7608D01E78B3}" dt="2025-11-20T18:10:56.979" v="0"/>
        <pc:sldMkLst>
          <pc:docMk/>
          <pc:sldMk cId="560062097" sldId="544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r">
              <a:defRPr sz="1200"/>
            </a:lvl1pPr>
          </a:lstStyle>
          <a:p>
            <a:fld id="{02702324-D059-4239-BDE2-718484C5CD7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3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3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r">
              <a:defRPr sz="1200"/>
            </a:lvl1pPr>
          </a:lstStyle>
          <a:p>
            <a:fld id="{3D02100C-5FC6-4E55-A73F-BA402BFD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90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r">
              <a:defRPr sz="1200"/>
            </a:lvl1pPr>
          </a:lstStyle>
          <a:p>
            <a:fld id="{FD6B594A-5125-48A0-B9FD-E17B6C1AB51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4" tIns="46582" rIns="93164" bIns="4658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4" tIns="46582" rIns="93164" bIns="4658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3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3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r">
              <a:defRPr sz="1200"/>
            </a:lvl1pPr>
          </a:lstStyle>
          <a:p>
            <a:fld id="{DAC03921-7077-42B0-8C81-48C0A93EA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83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Welcome to Day 5, the final day. Over four days you moved from manual CLI to Ansible, to Python, to Terraform.</a:t>
            </a:r>
          </a:p>
          <a:p>
            <a:r>
              <a:rPr lang="en-US" sz="1400" dirty="0"/>
              <a:t>Today we bring it together on Arista EOS - a platform built for automation - and CloudVision, which manages a whole fleet from one place.</a:t>
            </a:r>
          </a:p>
          <a:p>
            <a:r>
              <a:rPr lang="en-US" sz="1400" dirty="0"/>
              <a:t>By the end you will automate Arista devices three ways and see how everything from the week fits into one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44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D2934-626A-AD1C-0CF1-2C31DF4C5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9911B-255D-C6DF-45E1-575E4132A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9DF50-9859-8219-84F7-B010766CA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Set the tone: Arista was designed with automation in mind, so many ideas from the week apply cleanly here.</a:t>
            </a:r>
          </a:p>
          <a:p>
            <a:r>
              <a:rPr lang="en-US" sz="1400" dirty="0"/>
              <a:t>This day also serves as the course capstone - we close by tying all five days together.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3921E-C787-9BF1-3E26-2F7B316732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9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Anchor Day 5 in Day 4. Terraform built the network; earlier days configured devices in it.</a:t>
            </a:r>
          </a:p>
          <a:p>
            <a:r>
              <a:rPr lang="en-US" sz="1400" dirty="0"/>
              <a:t>Today we return to device automation, on a platform - Arista EOS - that was built for it, and then scale up with CloudVision.</a:t>
            </a:r>
          </a:p>
          <a:p>
            <a:r>
              <a:rPr lang="en-US" sz="1400" dirty="0"/>
              <a:t>Frame the day as both new material and the capstone that ties the week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31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57EAF-89BA-1471-D45D-E1D663837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709D6-6B2C-32BE-F82F-C815110B1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6ED90-00A3-2618-B17C-0C117E8AA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Preview the day: understand EOS and its API, automate it with Python and Ansible, then manage the fleet with CloudVision.</a:t>
            </a:r>
          </a:p>
          <a:p>
            <a:r>
              <a:rPr lang="en-US" sz="1400" dirty="0"/>
              <a:t>Each concept feeds the labs - eAPI/pyeapi in Lab 13, Ansible in Lab 14, CloudVision in Lab 15.</a:t>
            </a:r>
          </a:p>
          <a:p>
            <a:r>
              <a:rPr lang="en-US" sz="1400" dirty="0"/>
              <a:t>The final section wraps up the whole course and points to what to learn next.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D06B7-5465-0CB6-11BB-CB1327B86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96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2C52-4291-6907-B551-0DF3CFB6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3F8DF-7D3E-C640-8680-04F44931A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B7508-0235-5B83-E27E-16A1F9280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one: what makes Arista EOS different and why it is automation-friendly.</a:t>
            </a:r>
          </a:p>
          <a:p>
            <a:r>
              <a:rPr lang="en-US" sz="1400" dirty="0"/>
              <a:t>The theme: EOS was designed as a programmable, Linux-based platform from day 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4ACF0-257E-42FA-2B05-BB5B17E2A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8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Arista's pitch is consistency and openness: one EOS image everywhere, built on Linux.</a:t>
            </a:r>
          </a:p>
          <a:p>
            <a:r>
              <a:rPr lang="en-US" sz="1400" dirty="0"/>
              <a:t>That consistency is a gift for automation - the same commands and APIs behave the same across the fleet.</a:t>
            </a:r>
          </a:p>
          <a:p>
            <a:r>
              <a:rPr lang="en-US" sz="1400" dirty="0"/>
              <a:t>EOS shipped with programmatic access as a first-class feature, not an afterthought.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6B5A7-DC35-4426-7F22-C5955626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1DD22-861A-A544-93F5-AAA1D68D7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97B0E-DCC2-E4FE-A21F-F97C4AD07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EOS keeps all state in a central database, SysDB, that every process reads and writes.</a:t>
            </a:r>
          </a:p>
          <a:p>
            <a:r>
              <a:rPr lang="en-US" sz="1400" dirty="0"/>
              <a:t>Because agents talk to the database instead of each other, one failing agent does not crash the system.</a:t>
            </a:r>
          </a:p>
          <a:p>
            <a:r>
              <a:rPr lang="en-US" sz="1400" dirty="0"/>
              <a:t>That shared-state model is also why streaming telemetry and APIs are so natural on EOS - the data is already centralized.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EE2C5-AF34-FB91-AE5F-654051B20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24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2951E-8DFE-8A8F-80E6-D445A4AB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22521-2304-976D-A692-10F0DACD5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F09C5-F7F8-A287-C9A7-59E216457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EOS is genuinely Linux underneath - you can open a bash shell right on the switch.</a:t>
            </a:r>
          </a:p>
          <a:p>
            <a:r>
              <a:rPr lang="en-US" sz="1400" dirty="0"/>
              <a:t>This means standard tooling and even your own scripts can run on the device.</a:t>
            </a:r>
          </a:p>
          <a:p>
            <a:r>
              <a:rPr lang="en-US" sz="1400" dirty="0"/>
              <a:t>For engineers with Linux skills, a lot of that knowledge transfers directly.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9844A-409D-7F5B-6A8E-B8DA35FDA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77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D5D91-8058-E4F9-52E4-C512D4CB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9BB76-926E-37F7-D312-2908E0746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A32A9-EA34-8CFA-EC2A-DBE7459A7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Give students the map of how you can manage EOS, from hands-on CLI to fleet-wide CloudVision.</a:t>
            </a:r>
          </a:p>
          <a:p>
            <a:r>
              <a:rPr lang="en-US" sz="1400" dirty="0"/>
              <a:t>Today we touch each layer: eAPI and pyeapi for scripts, Ansible for playbooks, CloudVision for scale.</a:t>
            </a:r>
          </a:p>
          <a:p>
            <a:r>
              <a:rPr lang="en-US" sz="1400" dirty="0"/>
              <a:t>The point is that these are complementary levels, not competing choices.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DC521-916B-23F0-8157-ACDD0EF8A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65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D9B01-70F7-2332-3473-B8DFC4CE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DB797-8C78-BF22-0974-AE92BDED2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228F2-1A25-3C72-AC61-FBD069B5C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eAPI is the star of the Arista automation story - it turns every CLI command into an API call.</a:t>
            </a:r>
          </a:p>
          <a:p>
            <a:r>
              <a:rPr lang="en-US" sz="1400" dirty="0"/>
              <a:t>Crucially, it returns structured JSON, so there is nothing to parse.</a:t>
            </a:r>
          </a:p>
          <a:p>
            <a:r>
              <a:rPr lang="en-US" sz="1400" dirty="0"/>
              <a:t>Most Arista automation tools, including pyeapi and the Ansible modules, sit on top of eAPI.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35E17-2551-200C-452E-67A1C87F2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94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42BBF-8E02-1517-573B-0A92040F4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E7427-81C4-2ED9-88B1-D40034548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F9AEE-076C-841E-6774-0016C2CE0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eAPI is off by default; enabling it is a few lines of config under management api http-commands.</a:t>
            </a:r>
          </a:p>
          <a:p>
            <a:r>
              <a:rPr lang="en-US" sz="1400" dirty="0"/>
              <a:t>Prefer HTTPS, and confirm the API is running and active with the show command.</a:t>
            </a:r>
          </a:p>
          <a:p>
            <a:r>
              <a:rPr lang="en-US" sz="1400" dirty="0"/>
              <a:t>In production, lock it down with an access list - an open management API is a risk.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2390A-D487-1A75-E98D-C979E9C74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22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F01D-7402-4E05-08BB-CE0D9C587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3E044-20E4-D293-1F28-2E22A4DC6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8ED53-78F0-45CF-4E99-EEE118DD7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Knowledge check on Arista basics.</a:t>
            </a:r>
          </a:p>
          <a:p>
            <a:r>
              <a:rPr lang="en-US" sz="1400" dirty="0"/>
              <a:t>Prompt: which is Arista's JSON-RPC API over HTTP?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21877-C3F1-4062-5E91-2995C4660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99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8A6E-F0C5-D46B-1BE9-F29C643E2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BC31A-C0CD-4F81-F78C-801E00FCA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7B2EE-9A0B-0E26-D718-1BF237A7B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B - eAPI. It presents the CLI as an API and returns structured JSON.</a:t>
            </a:r>
          </a:p>
          <a:p>
            <a:r>
              <a:rPr lang="en-US" sz="1400" dirty="0"/>
              <a:t>NETCONF and SNMP are standards EOS also supports, but eAPI is Arista's native JSON-RPC interface.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EA284-A48E-F168-B72D-615329603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88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AF062-7315-7F36-4098-3DF38E0FD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19D3A-C456-F006-E696-6911D0263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85A98-B218-E7EF-32AA-7A1218F06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two: talk to EOS from Python, first with raw eAPI, then with the pyeapi library.</a:t>
            </a:r>
          </a:p>
          <a:p>
            <a:r>
              <a:rPr lang="en-US" sz="1400" dirty="0"/>
              <a:t>This is the Arista equivalent of the Netmiko and NAPALM work from Day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0C920-7DAC-E71A-86EA-47A96588D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00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3114-BB57-B7CC-A1E8-EC1D06819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6D9E0-C1A9-40B2-34E0-14C9F29C8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F5472E-20A5-91DB-775D-4FAF97C6F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eAPI works over JSON-RPC: you POST a request naming the commands you want run.</a:t>
            </a:r>
          </a:p>
          <a:p>
            <a:r>
              <a:rPr lang="en-US" sz="1400" dirty="0"/>
              <a:t>The response is JSON, and you can request structured data rather than raw text for most commands.</a:t>
            </a:r>
          </a:p>
          <a:p>
            <a:r>
              <a:rPr lang="en-US" sz="1400" dirty="0"/>
              <a:t>This makes EOS especially pleasant to automate compared with pure screen-scraping.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B942E-0CA3-31B0-D3C2-E254550B0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45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165F0-4BF6-885D-D524-684A9BCC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906B2-FF92-7590-D05B-D4AEE25A8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D92B7-79C1-B043-F97B-E77E44283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The request specifies both the commands and the format - json for structured data, text when a command has no model.</a:t>
            </a:r>
          </a:p>
          <a:p>
            <a:r>
              <a:rPr lang="en-US" sz="1400" dirty="0"/>
              <a:t>Structured JSON drops straight into Python as dictionaries, so you skip the parsing step entirely.</a:t>
            </a:r>
          </a:p>
          <a:p>
            <a:r>
              <a:rPr lang="en-US" sz="1400" dirty="0"/>
              <a:t>Contrast with Day 3, where Cisco output needed TextFSM - here the device does the structuring for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43EF2-2727-B18D-131A-9408DF9FF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017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F3460-8326-86F1-8117-FA00B9D7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53A77-468F-9D5C-E347-A5CFE2B6F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02E5A-F3B5-A1FD-42BD-0615CA07A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You can call eAPI with the same requests library from Day 3 - build the JSON-RPC body and POST it.</a:t>
            </a:r>
          </a:p>
          <a:p>
            <a:r>
              <a:rPr lang="en-US" sz="1400" dirty="0"/>
              <a:t>The method is runCmds, and the result carries one entry per command you sent.</a:t>
            </a:r>
          </a:p>
          <a:p>
            <a:r>
              <a:rPr lang="en-US" sz="1400" dirty="0"/>
              <a:t>Because it is just HTTP and JSON, any language can drive eAPI, which is part of its appeal.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D380E-93E6-9DF5-DFC0-6D45DFB22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38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98D78-3F33-0591-3407-B5C7B2223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F8365-F569-E745-944F-2E48D36A5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7CF5B-AF18-7751-916C-765CA67F0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pyeapi wraps eAPI so you do not assemble raw JSON-RPC by hand.</a:t>
            </a:r>
          </a:p>
          <a:p>
            <a:r>
              <a:rPr lang="en-US" sz="1400" dirty="0"/>
              <a:t>It reads connection details from an eapi.conf file, so credentials stay out of your script.</a:t>
            </a:r>
          </a:p>
          <a:p>
            <a:r>
              <a:rPr lang="en-US" sz="1400" dirty="0"/>
              <a:t>Think of it as the Arista counterpart to Netmiko - the convenient, purpose-built client.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481AF-1842-4F55-7378-E55A8737E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74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2E699-4753-D8D0-9A99-7CB2FDDB6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CBA30-981E-E9DC-726F-F6A76A969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2C651-BDB0-CA2D-46E3-37A8DCE42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With pyeapi, enable() runs show commands and hands back structured data.</a:t>
            </a:r>
          </a:p>
          <a:p>
            <a:r>
              <a:rPr lang="en-US" sz="1400" dirty="0"/>
              <a:t>You navigate the result by key - the same list-of-dictionaries fluency from earlier days pays off again.</a:t>
            </a:r>
          </a:p>
          <a:p>
            <a:r>
              <a:rPr lang="en-US" sz="1400" dirty="0"/>
              <a:t>Loop over a list of nodes to gather fleet-wide state, exactly as you did with Netmiko.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D6773-8BBB-A77A-840B-924B3377A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105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config() is the write path - hand it a list of config lines and pyeapi applies them.</a:t>
            </a:r>
          </a:p>
          <a:p>
            <a:r>
              <a:rPr lang="en-US" sz="1400" dirty="0"/>
              <a:t>This mirrors Netmiko's send_config_set from Day 3.</a:t>
            </a:r>
          </a:p>
          <a:p>
            <a:r>
              <a:rPr lang="en-US" sz="1400" dirty="0"/>
              <a:t>A typical script reads current state, decides, then writes - all through pyeapi.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Robust scripts inspect the response and handle errors rather than assuming success.</a:t>
            </a:r>
          </a:p>
          <a:p>
            <a:r>
              <a:rPr lang="en-US" sz="1400" dirty="0"/>
              <a:t>Wrap eAPI calls in try/except so one unreachable switch does not stop the run - the same discipline as Day 3.</a:t>
            </a:r>
          </a:p>
          <a:p>
            <a:r>
              <a:rPr lang="en-US" sz="1400" dirty="0"/>
              <a:t>Structured results save cleanly to JSON for reporting or feeding other tools.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70376-1611-7B57-5194-31E2DC2A0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C2003-B75D-FA30-5DA8-A230B0E3D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EA89F-7850-A14E-0B45-073713D5F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Knowledge check on eAPI output.</a:t>
            </a:r>
          </a:p>
          <a:p>
            <a:r>
              <a:rPr lang="en-US" sz="1400" dirty="0"/>
              <a:t>Prompt: what structured format does eAPI return?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E834B-758F-335D-4FDA-40D931494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592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ADF96-35D3-054B-FAD0-B1C72F59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A41F4-9134-A6E2-7985-0AB2F0FF9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D5693-14FB-75DC-3977-97923C06B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B - JSON. eAPI returns structured JSON, so no scraping or templates are needed.</a:t>
            </a:r>
          </a:p>
          <a:p>
            <a:r>
              <a:rPr lang="en-US" sz="1400" dirty="0"/>
              <a:t>You can request text output for a specific command, but structured JSON is the default advantage.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2192C-CF92-4C34-5E55-FBD1DCBDE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104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75BAE-208F-DBB5-B6B6-14BB4937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54B6B-B3C1-3313-B25A-F115AF39A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16C90-D07C-7F05-7E75-553C70CCF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three: everything you learned about Ansible applies to Arista through the arista.eos collection.</a:t>
            </a:r>
          </a:p>
          <a:p>
            <a:r>
              <a:rPr lang="en-US" sz="1400" dirty="0"/>
              <a:t>The workflow is identical to Days 1 and 2 - only the modules change.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284E9-7908-B32D-CB2E-C5C14DF18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797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The arista.eos collection is the direct parallel to cisco.ios from Day 1.</a:t>
            </a:r>
          </a:p>
          <a:p>
            <a:r>
              <a:rPr lang="en-US" sz="1400" dirty="0"/>
              <a:t>Your playbook skills transfer completely - only the module names and connection settings differ.</a:t>
            </a:r>
          </a:p>
          <a:p>
            <a:r>
              <a:rPr lang="en-US" sz="1400" dirty="0"/>
              <a:t>It can drive devices over eAPI (httpapi) or SSH (network_cli).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eos_command is the read module - run show commands and register the result.</a:t>
            </a:r>
          </a:p>
          <a:p>
            <a:r>
              <a:rPr lang="en-US" sz="1400" dirty="0"/>
              <a:t>Everything you learned about register and debug on Day 1 applies unchanged.</a:t>
            </a:r>
          </a:p>
          <a:p>
            <a:r>
              <a:rPr lang="en-US" sz="1400" dirty="0"/>
              <a:t>It is the Arista twin of ios_command.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eos_config works just like ios_config - lines and parents, idempotent by design.</a:t>
            </a:r>
          </a:p>
          <a:p>
            <a:r>
              <a:rPr lang="en-US" sz="1400" dirty="0"/>
              <a:t>A second run reports changed=0 because the device already matches, exactly as on Cisco.</a:t>
            </a:r>
          </a:p>
          <a:p>
            <a:r>
              <a:rPr lang="en-US" sz="1400" dirty="0"/>
              <a:t>This is the clearest sign that your Day 1 and 2 skills carry straight over.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eos_facts collects normalized facts, filling the ansible_net_ variables you met on Day 1.</a:t>
            </a:r>
          </a:p>
          <a:p>
            <a:r>
              <a:rPr lang="en-US" sz="1400" dirty="0"/>
              <a:t>Those facts drive templates and when conditions just as before.</a:t>
            </a:r>
          </a:p>
          <a:p>
            <a:r>
              <a:rPr lang="en-US" sz="1400" dirty="0"/>
              <a:t>The consistency across vendors is the whole point of Ansible's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This slide closes the loop with Day 2: facts plus Jinja2 plus roles works identically on Arista.</a:t>
            </a:r>
          </a:p>
          <a:p>
            <a:r>
              <a:rPr lang="en-US" sz="1400" dirty="0"/>
              <a:t>You can literally reuse the roles pattern, swapping the modules for arista.eos.</a:t>
            </a:r>
          </a:p>
          <a:p>
            <a:r>
              <a:rPr lang="en-US" sz="1400" dirty="0"/>
              <a:t>The takeaway: a single Ansible workflow spans multiple vendors.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0AD0B-1336-AE6E-99B8-BDF8416E4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B8E85-459E-FDCC-ECF8-BC710C010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76983-F4BE-AFF8-B853-EDB74D6F4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Knowledge check on the Arista Ansible collection.</a:t>
            </a:r>
          </a:p>
          <a:p>
            <a:r>
              <a:rPr lang="en-US" sz="1400" dirty="0"/>
              <a:t>Prompt: which module is the write path, like ios_config?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CEC4F-D8B8-C2E3-EE5B-E8E999CE2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470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DD60B-BB41-9B8F-A33C-14F2DE5F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99663-65F9-B69A-6AE4-F4F641FB3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51A35-3297-B614-13D7-21BAF894D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C - eos_config. It applies configuration idempotently, the Arista twin of ios_config.</a:t>
            </a:r>
          </a:p>
          <a:p>
            <a:r>
              <a:rPr lang="en-US" sz="1400" dirty="0"/>
              <a:t>eos_command runs show commands and eos_facts gathers data; eos_show is not a real module.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DE6A4-E5A7-0F47-53DC-2C33FC6C2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475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four: CloudVision manages the whole Arista fleet from one place.</a:t>
            </a:r>
          </a:p>
          <a:p>
            <a:r>
              <a:rPr lang="en-US" sz="1400" dirty="0"/>
              <a:t>It shifts automation from per-device scripts to network-wide, state-driven management.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CloudVision, often called CVP, is the single pane of glass for an Arista network.</a:t>
            </a:r>
          </a:p>
          <a:p>
            <a:r>
              <a:rPr lang="en-US" sz="1400" dirty="0"/>
              <a:t>It centralizes configuration, telemetry, and change control across all devices.</a:t>
            </a:r>
          </a:p>
          <a:p>
            <a:r>
              <a:rPr lang="en-US" sz="1400" dirty="0"/>
              <a:t>This is the jump from automating one switch to managing the whole fabric as a system.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Instead of polling, EOS streams its state to CloudVision in near real time.</a:t>
            </a:r>
          </a:p>
          <a:p>
            <a:r>
              <a:rPr lang="en-US" sz="1400" dirty="0"/>
              <a:t>This gives both a live view and a historical record you can rewind through.</a:t>
            </a:r>
          </a:p>
          <a:p>
            <a:r>
              <a:rPr lang="en-US" sz="1400" dirty="0"/>
              <a:t>Streaming telemetry is what makes CloudVision's monitoring and analytics possible.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CloudVision maintains a model of the entire network's configuration and state.</a:t>
            </a:r>
          </a:p>
          <a:p>
            <a:r>
              <a:rPr lang="en-US" sz="1400" dirty="0"/>
              <a:t>That lets you search, compare, and even roll the whole fabric back to an earlier point.</a:t>
            </a:r>
          </a:p>
          <a:p>
            <a:r>
              <a:rPr lang="en-US" sz="1400" dirty="0"/>
              <a:t>The mindset shift is from managing devices to managing the network as one entity.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Configlets are CloudVision's unit of configuration - reusable blocks you assign to devices.</a:t>
            </a:r>
          </a:p>
          <a:p>
            <a:r>
              <a:rPr lang="en-US" sz="1400" dirty="0"/>
              <a:t>A device's full config is composed from the configlets attached to it and its container.</a:t>
            </a:r>
          </a:p>
          <a:p>
            <a:r>
              <a:rPr lang="en-US" sz="1400" dirty="0"/>
              <a:t>They can be static or generated dynamically by a configlet builder.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CloudVision does not apply changes silently - it creates tasks that must be executed.</a:t>
            </a:r>
          </a:p>
          <a:p>
            <a:r>
              <a:rPr lang="en-US" sz="1400" dirty="0"/>
              <a:t>Grouping tasks into change controls adds review, approval, and scheduling.</a:t>
            </a:r>
          </a:p>
          <a:p>
            <a:r>
              <a:rPr lang="en-US" sz="1400" dirty="0"/>
              <a:t>This governance, with a full audit trail and rollback, is why enterprises adopt CloudVision.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Snapshots and compliance checks turn CloudVision into a continuous auditor.</a:t>
            </a:r>
          </a:p>
          <a:p>
            <a:r>
              <a:rPr lang="en-US" sz="1400" dirty="0"/>
              <a:t>Compare current state against a baseline to spot drift or unauthorized changes automatically.</a:t>
            </a:r>
          </a:p>
          <a:p>
            <a:r>
              <a:rPr lang="en-US" sz="1400" dirty="0"/>
              <a:t>This is the compliance story from Day 1, now applied fleet-wide and continuously.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five: drive CloudVision itself from code with its API and the cvprac library.</a:t>
            </a:r>
          </a:p>
          <a:p>
            <a:r>
              <a:rPr lang="en-US" sz="1400" dirty="0"/>
              <a:t>Now you automate the automation platform - configlets, tasks, and change control as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CloudVision is fully API-driven - the web UI is just one client of the same API.</a:t>
            </a:r>
          </a:p>
          <a:p>
            <a:r>
              <a:rPr lang="en-US" sz="1400" dirty="0"/>
              <a:t>That means every action, from assigning a configlet to launching a change control, can be scripted.</a:t>
            </a:r>
          </a:p>
          <a:p>
            <a:r>
              <a:rPr lang="en-US" sz="1400" dirty="0"/>
              <a:t>You can also pull telemetry and compliance data out for your own dashboards.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cvprac is to CloudVision what pyeapi is to a single switch - the official Python client.</a:t>
            </a:r>
          </a:p>
          <a:p>
            <a:r>
              <a:rPr lang="en-US" sz="1400" dirty="0"/>
              <a:t>It handles authentication and wraps the REST calls in clean methods.</a:t>
            </a:r>
          </a:p>
          <a:p>
            <a:r>
              <a:rPr lang="en-US" sz="1400" dirty="0"/>
              <a:t>This is how teams manage CloudVision as code rather than by clicking.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With cvprac you create, update, and assign configlets from a script.</a:t>
            </a:r>
          </a:p>
          <a:p>
            <a:r>
              <a:rPr lang="en-US" sz="1400" dirty="0"/>
              <a:t>Generate configlet content from Jinja2 templates and store the definitions in Git - config as code.</a:t>
            </a:r>
          </a:p>
          <a:p>
            <a:r>
              <a:rPr lang="en-US" sz="1400" dirty="0"/>
              <a:t>CloudVision then handles turning those configlets into device changes.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The API lets you assemble and submit change controls automatically.</a:t>
            </a:r>
          </a:p>
          <a:p>
            <a:r>
              <a:rPr lang="en-US" sz="1400" dirty="0"/>
              <a:t>This slots CloudVision into a CI/CD pipeline: code review triggers a controlled, auditable network change.</a:t>
            </a:r>
          </a:p>
          <a:p>
            <a:r>
              <a:rPr lang="en-US" sz="1400" dirty="0"/>
              <a:t>You get automation speed with enterprise governance - the best of both.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Knowledge check on CloudVision.</a:t>
            </a:r>
          </a:p>
          <a:p>
            <a:r>
              <a:rPr lang="en-US" sz="1400" dirty="0"/>
              <a:t>Prompt: what is CloudVision's unit of configuration?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B - a configlet. Devices are configured by the configlets assigned to them.</a:t>
            </a:r>
          </a:p>
          <a:p>
            <a:r>
              <a:rPr lang="en-US" sz="1400" dirty="0"/>
              <a:t>Playbooks, getters, and tfvars files come from other tools in the course, not CloudVision.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six: Arista Validated Designs bring full infrastructure-as-code to the network fabric.</a:t>
            </a:r>
          </a:p>
          <a:p>
            <a:r>
              <a:rPr lang="en-US" sz="1400" dirty="0"/>
              <a:t>This is where templates, roles, and CloudVision combine into one design-driven workflow.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AVD is Arista's flagship IaC approach - an Ansible collection that turns a data model into a whole fabric.</a:t>
            </a:r>
          </a:p>
          <a:p>
            <a:r>
              <a:rPr lang="en-US" sz="1400" dirty="0"/>
              <a:t>You describe intent in structured YAML; AVD generates tested, complete device configurations.</a:t>
            </a:r>
          </a:p>
          <a:p>
            <a:r>
              <a:rPr lang="en-US" sz="1400" dirty="0"/>
              <a:t>It is the culmination of the templates-and-roles ideas from Day 2, purpose-built for Arista.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In AVD you edit a data model, not device configs - the roles do the generation.</a:t>
            </a:r>
          </a:p>
          <a:p>
            <a:r>
              <a:rPr lang="en-US" sz="1400" dirty="0"/>
              <a:t>The designs encode Arista's best practices, so the output is validated by construction.</a:t>
            </a:r>
          </a:p>
          <a:p>
            <a:r>
              <a:rPr lang="en-US" sz="1400" dirty="0"/>
              <a:t>This is intent-based networking: you declare what you want, and the tooling produces the how.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From one data model, AVD renders every device's config and even the network documentation.</a:t>
            </a:r>
          </a:p>
          <a:p>
            <a:r>
              <a:rPr lang="en-US" sz="1400" dirty="0"/>
              <a:t>You review the generated output before anything is deployed - the plan-before-apply habit again.</a:t>
            </a:r>
          </a:p>
          <a:p>
            <a:r>
              <a:rPr lang="en-US" sz="1400" dirty="0"/>
              <a:t>It is the Day 2 template workflow scaled to an entire fabric.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AVD integrates with CloudVision, delivering generated configs as change controls.</a:t>
            </a:r>
          </a:p>
          <a:p>
            <a:r>
              <a:rPr lang="en-US" sz="1400" dirty="0"/>
              <a:t>That means the governance, approval, and rollback we covered still apply to AVD-driven changes.</a:t>
            </a:r>
          </a:p>
          <a:p>
            <a:r>
              <a:rPr lang="en-US" sz="1400" dirty="0"/>
              <a:t>The result is a single pipeline from data model to a safely deployed fabric.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This is the capstone slide - show how the whole week forms one coherent toolkit.</a:t>
            </a:r>
          </a:p>
          <a:p>
            <a:r>
              <a:rPr lang="en-US" sz="1400" dirty="0"/>
              <a:t>Terraform provisions, Ansible and AVD configure, Python fills the gaps, CloudVision governs.</a:t>
            </a:r>
          </a:p>
          <a:p>
            <a:r>
              <a:rPr lang="en-US" sz="1400" dirty="0"/>
              <a:t>The skill is not any single tool but choosing the right one for each layer of the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seven: three Arista labs, then we close the course.</a:t>
            </a:r>
          </a:p>
          <a:p>
            <a:r>
              <a:rPr lang="en-US" sz="1400" dirty="0"/>
              <a:t>Note the Arista lab environment differs from the AWS Cisco lab used earlier.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Be clear that Day 5 runs on Arista gear, not the Cisco AWS lab from earlier days.</a:t>
            </a:r>
          </a:p>
          <a:p>
            <a:r>
              <a:rPr lang="en-US" sz="1400" dirty="0"/>
              <a:t>Depending on your setup this may be an Arista test-drive environment, virtual EOS nodes, or a CloudVision sandbox - the instructor supplies the details.</a:t>
            </a:r>
          </a:p>
          <a:p>
            <a:r>
              <a:rPr lang="en-US" sz="1400" dirty="0"/>
              <a:t>Before the labs, confirm connectivity and that eAPI is enabled on the devices.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Lab 13 is the Arista equivalent of the Day 3 Netmiko lab, using eAPI and pyeapi.</a:t>
            </a:r>
          </a:p>
          <a:p>
            <a:r>
              <a:rPr lang="en-US" sz="1400" dirty="0"/>
              <a:t>The highlight is seeing structured JSON come straight from the device - no parsing needed.</a:t>
            </a:r>
          </a:p>
          <a:p>
            <a:r>
              <a:rPr lang="en-US" sz="1400" dirty="0"/>
              <a:t>Common snag: eAPI not enabled or HTTPS certificate warnings, handled as in Day 3.</a:t>
            </a:r>
          </a:p>
          <a:p>
            <a:r>
              <a:rPr lang="en-US" sz="1400" dirty="0"/>
              <a:t>Students finish by making a real config change through pyeapi.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Lab 14 proves that your Day 1 and 2 Ansible skills transfer directly to Arista.</a:t>
            </a:r>
          </a:p>
          <a:p>
            <a:r>
              <a:rPr lang="en-US" sz="1400" dirty="0"/>
              <a:t>The only real differences are the collection, the modules, and the eAPI connection settings.</a:t>
            </a:r>
          </a:p>
          <a:p>
            <a:r>
              <a:rPr lang="en-US" sz="1400" dirty="0"/>
              <a:t>The idempotency check - changed=0 on the second run - should feel familiar and reassuring.</a:t>
            </a:r>
          </a:p>
          <a:p>
            <a:r>
              <a:rPr lang="en-US" sz="1400" dirty="0"/>
              <a:t>This ties the Ansible thread of the course to a second vendor.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Lab 15 - managing the whole fleet through CloudVision in code.</a:t>
            </a:r>
          </a:p>
          <a:p>
            <a:r>
              <a:rPr lang="en-US" sz="1400" dirty="0"/>
              <a:t>Students create a configlet, assign it, and drive the resulting task and change control via cvprac.</a:t>
            </a:r>
          </a:p>
          <a:p>
            <a:r>
              <a:rPr lang="en-US" sz="1400" dirty="0"/>
              <a:t>The governance is visible: the change appears as a reviewable, auditable change control.</a:t>
            </a:r>
          </a:p>
          <a:p>
            <a:r>
              <a:rPr lang="en-US" sz="1400" dirty="0"/>
              <a:t>This connects config-as-code to enterprise change management.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Course-wide knowledge check.</a:t>
            </a:r>
          </a:p>
          <a:p>
            <a:r>
              <a:rPr lang="en-US" sz="1400" dirty="0"/>
              <a:t>Prompt: which tool builds the network itself?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C - Terraform. It provisions infrastructure like VPCs and subnets, rather than configuring existing devices.</a:t>
            </a:r>
          </a:p>
          <a:p>
            <a:r>
              <a:rPr lang="en-US" sz="1400" dirty="0"/>
              <a:t>Ansible, Netmiko, and NAPALM all configure or query devices that already exist.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Recap the whole journey: from manual CLI to a full automation toolkit across five days.</a:t>
            </a:r>
          </a:p>
          <a:p>
            <a:r>
              <a:rPr lang="en-US" sz="1400" dirty="0"/>
              <a:t>Emphasize the through-lines: declarative thinking, idempotency, structured data, and version control appear in every tool.</a:t>
            </a:r>
          </a:p>
          <a:p>
            <a:r>
              <a:rPr lang="en-US" sz="1400" dirty="0"/>
              <a:t>The real skill is judgment - knowing which tool fits which layer of a problem.</a:t>
            </a:r>
          </a:p>
          <a:p>
            <a:r>
              <a:rPr lang="en-US" sz="1400" dirty="0"/>
              <a:t>Congratulate the class on completing the course.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2F7DB-31D1-A897-A85C-9D91DB6ED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48115-791F-14C4-4B89-B2326F0C7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19C78-F6CD-E2F6-B10E-7B5C1C2F2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Point students toward continued growth: a combined project is the best way to cement the week.</a:t>
            </a:r>
          </a:p>
          <a:p>
            <a:r>
              <a:rPr lang="en-US" sz="1400" dirty="0"/>
              <a:t>CI/CD for networks is the natural next topic - automating the automation with pipelines and testing.</a:t>
            </a:r>
          </a:p>
          <a:p>
            <a:r>
              <a:rPr lang="en-US" sz="1400" dirty="0"/>
              <a:t>Certifications give structure if they want a credential to aim for.</a:t>
            </a:r>
          </a:p>
          <a:p>
            <a:r>
              <a:rPr lang="en-US" sz="1400" dirty="0"/>
              <a:t>Close with encouragement: fluency comes from building real things, so keep a lab and keep practicing.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D6A01-7FAD-3684-E130-BF3E2D47C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64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103632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800600"/>
            <a:ext cx="9144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98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4672-C582-6331-2735-177B704D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E7E4C-4357-59C7-6D2B-68C2BE692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2CA29-9EAF-27A8-CE45-33AB680F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D78A4-37DB-0CE7-3438-963BC2F2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68B64C-4C01-CCB3-9D6C-A67B39D5F264}"/>
              </a:ext>
            </a:extLst>
          </p:cNvPr>
          <p:cNvCxnSpPr>
            <a:cxnSpLocks/>
          </p:cNvCxnSpPr>
          <p:nvPr userDrawn="1"/>
        </p:nvCxnSpPr>
        <p:spPr>
          <a:xfrm>
            <a:off x="7150100" y="2108200"/>
            <a:ext cx="0" cy="37846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21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8013405" cy="72978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73889"/>
            <a:ext cx="10160000" cy="50522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302" y="6574155"/>
            <a:ext cx="4572000" cy="28384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© 2026 by Innovation In Software Corporation 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22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04828" y="152718"/>
            <a:ext cx="6427971" cy="814845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6394027" y="1300130"/>
            <a:ext cx="4514978" cy="47226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99" y="331458"/>
            <a:ext cx="1049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C00000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LAB:</a:t>
            </a:r>
            <a:endParaRPr lang="en-US" b="1">
              <a:solidFill>
                <a:srgbClr val="C00000"/>
              </a:solidFill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8" name="Footer Placeholder 3"/>
          <p:cNvSpPr txBox="1">
            <a:spLocks/>
          </p:cNvSpPr>
          <p:nvPr/>
        </p:nvSpPr>
        <p:spPr>
          <a:xfrm>
            <a:off x="6822558" y="6492876"/>
            <a:ext cx="4572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CA" sz="1050" b="1"/>
              <a:t>Practice makes perfect.</a:t>
            </a:r>
            <a:endParaRPr lang="en-US" sz="1050" b="1"/>
          </a:p>
        </p:txBody>
      </p:sp>
      <p:sp>
        <p:nvSpPr>
          <p:cNvPr id="9" name="Rectangle 8"/>
          <p:cNvSpPr/>
          <p:nvPr/>
        </p:nvSpPr>
        <p:spPr>
          <a:xfrm>
            <a:off x="12006470" y="1300130"/>
            <a:ext cx="185530" cy="5557870"/>
          </a:xfrm>
          <a:prstGeom prst="rect">
            <a:avLst/>
          </a:prstGeom>
          <a:solidFill>
            <a:srgbClr val="007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38542" t="36852" r="56354" b="53518"/>
          <a:stretch/>
        </p:blipFill>
        <p:spPr>
          <a:xfrm>
            <a:off x="774843" y="5050793"/>
            <a:ext cx="788399" cy="8366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73" r="22687"/>
          <a:stretch/>
        </p:blipFill>
        <p:spPr>
          <a:xfrm>
            <a:off x="2172782" y="1300130"/>
            <a:ext cx="4012234" cy="4722628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583496" y="5887647"/>
            <a:ext cx="1168536" cy="249539"/>
          </a:xfrm>
        </p:spPr>
        <p:txBody>
          <a:bodyPr>
            <a:noAutofit/>
          </a:bodyPr>
          <a:lstStyle>
            <a:lvl1pPr>
              <a:defRPr sz="1400">
                <a:solidFill>
                  <a:srgbClr val="FF0000"/>
                </a:solidFill>
                <a:latin typeface="Arial Black (Headings)"/>
              </a:defRPr>
            </a:lvl1pPr>
            <a:lvl2pPr marL="274320" indent="0">
              <a:buNone/>
              <a:defRPr/>
            </a:lvl2pPr>
          </a:lstStyle>
          <a:p>
            <a:pPr lvl="0"/>
            <a:r>
              <a:rPr lang="en-US"/>
              <a:t>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3713" y="152718"/>
            <a:ext cx="1913061" cy="523220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/>
              <a:t>LABS AT THE BACK OF THE BOOK</a:t>
            </a:r>
          </a:p>
        </p:txBody>
      </p:sp>
    </p:spTree>
    <p:extLst>
      <p:ext uri="{BB962C8B-B14F-4D97-AF65-F5344CB8AC3E}">
        <p14:creationId xmlns:p14="http://schemas.microsoft.com/office/powerpoint/2010/main" val="2980598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1"/>
            <a:ext cx="103632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28601"/>
            <a:ext cx="103632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778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4240" y="1574800"/>
            <a:ext cx="43891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6880" y="1574800"/>
            <a:ext cx="43891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663350" y="1656784"/>
            <a:ext cx="0" cy="4443979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67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7721600" cy="65580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4240" y="3734602"/>
            <a:ext cx="4389120" cy="23661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6880" y="3734602"/>
            <a:ext cx="4389120" cy="23661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663350" y="1541284"/>
            <a:ext cx="0" cy="4443979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2174240" y="1251284"/>
            <a:ext cx="4389120" cy="23661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6786880" y="1251284"/>
            <a:ext cx="4389120" cy="23661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9493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7721600" cy="65580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663350" y="1541284"/>
            <a:ext cx="0" cy="4443979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4254366" y="1251284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267200" y="3734601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1821843" y="1251284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7"/>
          </p:nvPr>
        </p:nvSpPr>
        <p:spPr>
          <a:xfrm>
            <a:off x="1834677" y="3734601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8"/>
          </p:nvPr>
        </p:nvSpPr>
        <p:spPr>
          <a:xfrm>
            <a:off x="9195864" y="1251284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9"/>
          </p:nvPr>
        </p:nvSpPr>
        <p:spPr>
          <a:xfrm>
            <a:off x="9208698" y="3734601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half" idx="20"/>
          </p:nvPr>
        </p:nvSpPr>
        <p:spPr>
          <a:xfrm>
            <a:off x="6763341" y="1251284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21"/>
          </p:nvPr>
        </p:nvSpPr>
        <p:spPr>
          <a:xfrm>
            <a:off x="6776175" y="3734601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97092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0176" y="1572768"/>
            <a:ext cx="438912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0176" y="2259366"/>
            <a:ext cx="438912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90944" y="1572768"/>
            <a:ext cx="438912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90944" y="2259366"/>
            <a:ext cx="438912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8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7CF1EF6-33F6-4484-B873-110506412060}"/>
              </a:ext>
            </a:extLst>
          </p:cNvPr>
          <p:cNvSpPr/>
          <p:nvPr/>
        </p:nvSpPr>
        <p:spPr>
          <a:xfrm>
            <a:off x="10015040" y="4042913"/>
            <a:ext cx="1991430" cy="282083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47924" y="240889"/>
            <a:ext cx="7738364" cy="774382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defRPr>
            </a:lvl1pPr>
          </a:lstStyle>
          <a:p>
            <a:r>
              <a:rPr lang="en-US" err="1"/>
              <a:t>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346067" y="5015134"/>
            <a:ext cx="1906548" cy="790130"/>
          </a:xfrm>
        </p:spPr>
        <p:txBody>
          <a:bodyPr anchor="b">
            <a:noAutofit/>
          </a:bodyPr>
          <a:lstStyle>
            <a:lvl1pPr marL="0" indent="0">
              <a:buNone/>
              <a:defRPr sz="1400" b="0" cap="all" spc="100" baseline="0">
                <a:solidFill>
                  <a:srgbClr val="C00000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5 Minutes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938" y="1401845"/>
            <a:ext cx="10539125" cy="19980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© 2025 by Innovation In Software Corporation 
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0939" y="349776"/>
            <a:ext cx="2266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C00000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POP QUIZ:</a:t>
            </a:r>
            <a:endParaRPr lang="en-US" b="1">
              <a:solidFill>
                <a:srgbClr val="C00000"/>
              </a:solidFill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006470" y="1300130"/>
            <a:ext cx="185530" cy="555787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38542" t="36852" r="56354" b="53518"/>
          <a:stretch/>
        </p:blipFill>
        <p:spPr>
          <a:xfrm>
            <a:off x="10572882" y="4681721"/>
            <a:ext cx="788399" cy="836668"/>
          </a:xfrm>
          <a:prstGeom prst="rect">
            <a:avLst/>
          </a:prstGeom>
        </p:spPr>
      </p:pic>
      <p:pic>
        <p:nvPicPr>
          <p:cNvPr id="16" name="Picture 15" descr="A group of people in a room  Description automatically generated">
            <a:extLst>
              <a:ext uri="{FF2B5EF4-FFF2-40B4-BE49-F238E27FC236}">
                <a16:creationId xmlns:a16="http://schemas.microsoft.com/office/drawing/2014/main" id="{093CB388-AB25-4294-97A6-9EB9568DD9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2" b="2618"/>
          <a:stretch/>
        </p:blipFill>
        <p:spPr>
          <a:xfrm>
            <a:off x="0" y="4037162"/>
            <a:ext cx="10029645" cy="282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0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6258" y="240889"/>
            <a:ext cx="6540030" cy="774382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defRPr>
            </a:lvl1pPr>
          </a:lstStyle>
          <a:p>
            <a:r>
              <a:rPr lang="en-US"/>
              <a:t>conversation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5511" y="5269246"/>
            <a:ext cx="3296044" cy="470196"/>
          </a:xfrm>
        </p:spPr>
        <p:txBody>
          <a:bodyPr anchor="b">
            <a:noAutofit/>
          </a:bodyPr>
          <a:lstStyle>
            <a:lvl1pPr marL="0" indent="0">
              <a:buNone/>
              <a:defRPr sz="1400" b="0" cap="all" spc="100" baseline="0">
                <a:solidFill>
                  <a:srgbClr val="C00000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5 Minutes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90944" y="1401844"/>
            <a:ext cx="4389120" cy="46980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0939" y="349776"/>
            <a:ext cx="3505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C00000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CONVERSATION:</a:t>
            </a:r>
            <a:endParaRPr lang="en-US" b="1">
              <a:solidFill>
                <a:srgbClr val="C00000"/>
              </a:solidFill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006470" y="1300130"/>
            <a:ext cx="185530" cy="555787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38542" t="36852" r="56354" b="53518"/>
          <a:stretch/>
        </p:blipFill>
        <p:spPr>
          <a:xfrm>
            <a:off x="555372" y="4791464"/>
            <a:ext cx="592054" cy="628302"/>
          </a:xfrm>
          <a:prstGeom prst="rect">
            <a:avLst/>
          </a:prstGeom>
        </p:spPr>
      </p:pic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D1AFE448-9478-4921-9428-9E4F23B14C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0071" y="1401844"/>
            <a:ext cx="4389120" cy="46980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317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14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16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0"/>
            <a:ext cx="6815667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0"/>
            <a:ext cx="4011084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8057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106680"/>
            <a:ext cx="12001169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5715000"/>
            <a:ext cx="108712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4953000"/>
            <a:ext cx="108712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05489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07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02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12928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>
                <a:solidFill>
                  <a:srgbClr val="FFFF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0" y="0"/>
            <a:ext cx="2648049" cy="1745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98460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5003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5681" y="87414"/>
            <a:ext cx="7762858" cy="940441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rgbClr val="33CC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1713655"/>
            <a:ext cx="4480560" cy="4458545"/>
          </a:xfrm>
        </p:spPr>
        <p:txBody>
          <a:bodyPr/>
          <a:lstStyle>
            <a:lvl1pPr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 sz="1400"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 sz="1400"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 sz="1400">
                <a:solidFill>
                  <a:schemeClr val="bg1">
                    <a:lumMod val="85000"/>
                  </a:schemeClr>
                </a:solidFill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1713655"/>
            <a:ext cx="4480560" cy="4458545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1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12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>
              <a:defRPr sz="11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>
              <a:defRPr sz="11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>
              <a:defRPr sz="11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8440" y="6385465"/>
            <a:ext cx="914400" cy="5937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43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0146" y="158723"/>
            <a:ext cx="10931706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2026 by Innovation In Software Corporation 
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74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4445552"/>
            <a:ext cx="9144000" cy="1345648"/>
          </a:xfrm>
          <a:prstGeom prst="rect">
            <a:avLst/>
          </a:prstGeom>
        </p:spPr>
        <p:txBody>
          <a:bodyPr lIns="18288" tIns="18288" rIns="18288" bIns="18288" anchor="b">
            <a:norm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lang="en-US" sz="3200" b="1" dirty="0" smtClean="0">
                <a:solidFill>
                  <a:schemeClr val="accent2"/>
                </a:solidFill>
                <a:effectLst/>
                <a:latin typeface="+mj-lt"/>
                <a:ea typeface="+mj-ea"/>
                <a:cs typeface="Arial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09600" y="5791200"/>
            <a:ext cx="9144000" cy="838200"/>
          </a:xfrm>
          <a:prstGeom prst="rect">
            <a:avLst/>
          </a:prstGeom>
        </p:spPr>
        <p:txBody>
          <a:bodyPr lIns="18288" tIns="18288" rIns="18288" bIns="18288">
            <a:normAutofit/>
          </a:bodyPr>
          <a:lstStyle>
            <a:lvl1pPr marL="0" indent="0" algn="l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4C4170-713D-D94E-AB6C-265619E54E10}"/>
              </a:ext>
            </a:extLst>
          </p:cNvPr>
          <p:cNvSpPr/>
          <p:nvPr/>
        </p:nvSpPr>
        <p:spPr>
          <a:xfrm>
            <a:off x="11990440" y="2702460"/>
            <a:ext cx="218423" cy="41555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561EA2-9589-AE43-AAD1-CC4D320E0C2B}"/>
              </a:ext>
            </a:extLst>
          </p:cNvPr>
          <p:cNvSpPr/>
          <p:nvPr/>
        </p:nvSpPr>
        <p:spPr>
          <a:xfrm>
            <a:off x="11990440" y="1"/>
            <a:ext cx="218423" cy="2702856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9A9A0-292A-AA4D-B4EF-4FA2CF840E8C}"/>
              </a:ext>
            </a:extLst>
          </p:cNvPr>
          <p:cNvSpPr txBox="1">
            <a:spLocks/>
          </p:cNvSpPr>
          <p:nvPr/>
        </p:nvSpPr>
        <p:spPr>
          <a:xfrm rot="16200000">
            <a:off x="11469837" y="6720605"/>
            <a:ext cx="7642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9624C5-FDF6-4954-B8C3-64918F306FAA}" type="slidenum">
              <a:rPr lang="en-US" b="1" smtClean="0">
                <a:solidFill>
                  <a:srgbClr val="C00000"/>
                </a:solidFill>
              </a:rPr>
              <a:pPr/>
              <a:t>‹#›</a:t>
            </a:fld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7" name="Footer Placeholder 12">
            <a:extLst>
              <a:ext uri="{FF2B5EF4-FFF2-40B4-BE49-F238E27FC236}">
                <a16:creationId xmlns:a16="http://schemas.microsoft.com/office/drawing/2014/main" id="{E39E059B-4447-E24C-B339-29B4256C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86" y="6456680"/>
            <a:ext cx="3849914" cy="401320"/>
          </a:xfrm>
        </p:spPr>
        <p:txBody>
          <a:bodyPr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© 2026 by Innovation In Software Corporation 
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255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77216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52601"/>
            <a:ext cx="1016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172201"/>
            <a:ext cx="4572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492876"/>
            <a:ext cx="4572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11189124" y="5824644"/>
            <a:ext cx="131572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001499" y="0"/>
            <a:ext cx="190501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2001499" y="1371600"/>
            <a:ext cx="190501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1127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84" r:id="rId2"/>
    <p:sldLayoutId id="2147483666" r:id="rId3"/>
    <p:sldLayoutId id="2147483676" r:id="rId4"/>
    <p:sldLayoutId id="2147483667" r:id="rId5"/>
    <p:sldLayoutId id="2147483668" r:id="rId6"/>
    <p:sldLayoutId id="2147483678" r:id="rId7"/>
    <p:sldLayoutId id="2147483679" r:id="rId8"/>
    <p:sldLayoutId id="2147483669" r:id="rId9"/>
    <p:sldLayoutId id="2147483677" r:id="rId10"/>
    <p:sldLayoutId id="2147483680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60" r:id="rId18"/>
    <p:sldLayoutId id="2147483661" r:id="rId19"/>
    <p:sldLayoutId id="2147483682" r:id="rId20"/>
    <p:sldLayoutId id="2147483683" r:id="rId2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073889"/>
            <a:ext cx="10160000" cy="505227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588795" y="127591"/>
            <a:ext cx="2603205" cy="340241"/>
          </a:xfrm>
        </p:spPr>
        <p:txBody>
          <a:bodyPr/>
          <a:lstStyle/>
          <a:p>
            <a:r>
              <a:rPr lang="en-US" sz="1100" dirty="0"/>
              <a:t>© 2026 by Innovation In Software Corporation 
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58717" y="438336"/>
            <a:ext cx="12816625" cy="51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solidFill>
                  <a:srgbClr val="FF0000"/>
                </a:solidFill>
                <a:latin typeface="Gadugi"/>
                <a:ea typeface="Calibri"/>
                <a:cs typeface="Leelawadee UI Semilight"/>
              </a:rPr>
              <a:t>NETWORK AUTOMATION TOOLS V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42EAD9-E740-F403-3D4A-4DE381C69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5AFEC4-625D-FE3A-E420-D85597F9D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3719"/>
            <a:ext cx="12031684" cy="573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13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498CD-F09D-DE32-BB22-1B44A3731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65009-1C65-0966-6C16-0198EA44E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889"/>
            <a:ext cx="10160000" cy="505227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54DFB-F6D9-9E72-0D96-739012D8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88795" y="127591"/>
            <a:ext cx="2603205" cy="340241"/>
          </a:xfrm>
        </p:spPr>
        <p:txBody>
          <a:bodyPr/>
          <a:lstStyle/>
          <a:p>
            <a:r>
              <a:rPr lang="en-US" sz="1100" dirty="0"/>
              <a:t>© 2025 by Innovation In Software Corporation 
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BA6057FA-D0C1-12F8-AAEE-AA1FFB804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17" y="438336"/>
            <a:ext cx="12816625" cy="51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solidFill>
                  <a:srgbClr val="FF0000"/>
                </a:solidFill>
                <a:latin typeface="Gadugi"/>
                <a:ea typeface="Calibri"/>
                <a:cs typeface="Leelawadee UI Semilight"/>
              </a:rPr>
              <a:t>Network Automation Tools – Day 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9EF2DC-0B15-7344-761A-14E9CEEF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 descr="A group of women working on a computer">
            <a:extLst>
              <a:ext uri="{FF2B5EF4-FFF2-40B4-BE49-F238E27FC236}">
                <a16:creationId xmlns:a16="http://schemas.microsoft.com/office/drawing/2014/main" id="{5DB6D44F-5315-1880-EF87-C2D82C5196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" r="-312" b="3245"/>
          <a:stretch>
            <a:fillRect/>
          </a:stretch>
        </p:blipFill>
        <p:spPr>
          <a:xfrm>
            <a:off x="0" y="0"/>
            <a:ext cx="12102599" cy="687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18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Where Day 4 Left Off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You built the AWS network as code with Terraform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init, plan, apply, and destroy became routine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You created a VPC, subnets, routing, and security groups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Outputs handed resource IDs to other tools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Today: automating Arista EOS and CloudVision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76865" y="98052"/>
            <a:ext cx="80134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Agenda for 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3416" y="844226"/>
            <a:ext cx="7767651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Arista EOS fundamentals and </a:t>
            </a:r>
            <a:r>
              <a:rPr lang="en-CA" sz="2400" dirty="0" err="1">
                <a:latin typeface="Nirmala UI Semilight" panose="020B0402040204020203" pitchFamily="34" charset="0"/>
              </a:rPr>
              <a:t>eAPI</a:t>
            </a: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Programmatic access with </a:t>
            </a:r>
            <a:r>
              <a:rPr lang="en-CA" sz="2400" dirty="0" err="1">
                <a:latin typeface="Nirmala UI Semilight" panose="020B0402040204020203" pitchFamily="34" charset="0"/>
              </a:rPr>
              <a:t>pyeapi</a:t>
            </a: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Automating Arista with Ansible</a:t>
            </a: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CloudVision - telemetry and change control</a:t>
            </a: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CloudVision automation and validated designs</a:t>
            </a: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Three hands-on labs and course wrap-up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8FB5CC-197F-3FDF-E2CE-4B55BB20A5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058"/>
          <a:stretch/>
        </p:blipFill>
        <p:spPr>
          <a:xfrm>
            <a:off x="7680840" y="952234"/>
            <a:ext cx="3922728" cy="4953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Arista EOS Fundamentals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Why Arista EOS?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single EOS image across the entire product line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Built on standard Linux - open and programmable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Automation-first: eAPI, Python, and streaming telemetry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Popular in data centers and cloud networks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Consistent behavior makes automation predictable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6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 descr="Arista Networks Platforms | Partner &amp; reseller | Nomios Group">
            <a:extLst>
              <a:ext uri="{FF2B5EF4-FFF2-40B4-BE49-F238E27FC236}">
                <a16:creationId xmlns:a16="http://schemas.microsoft.com/office/drawing/2014/main" id="{56C3D846-B979-6BEA-C26E-4AB66020A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204" y="2932234"/>
            <a:ext cx="4215364" cy="22130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The EOS Architecture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Linux kernel with network features layered on top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State is held in a central database called SysDB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Processes read and write shared state, not each other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crash in one agent does not take down the box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This design is what enables clean telemetry and APIs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7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0C2F2F-EC70-E256-0EE1-FF85F45C3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449" y="2539201"/>
            <a:ext cx="7772400" cy="29991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EOS and Linux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Drop to a real bash shell on the switch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Run standard Linux tools and scripts on-box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Install packages and custom agents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Familiar to anyone with Linux experience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Lowers the barrier to on-device automation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3AB394-1265-EBD2-13B9-F5D924AD7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118" y="2988015"/>
            <a:ext cx="7772400" cy="21015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Management Options at a Glance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CLI - familiar interactive management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eAPI - JSON-RPC over HTTP for programs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 - the arista.eos collection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CloudVision - fleet-wide management and telemetry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Pick the level that fits the task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9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13393D-0C08-C342-8D9A-C67622158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812" y="2454718"/>
            <a:ext cx="7772400" cy="31680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The eAPI Interface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eAPI exposes the CLI as a programmable API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Send commands, get structured JSON back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Runs over HTTP or HTTPS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foundation for pyeapi and many tools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No screen-scraping required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10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62E095-4C39-4748-DC46-B1F46B911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127" y="2766248"/>
            <a:ext cx="7772400" cy="25450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Enabling eAPI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Enter management api http-commands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Enable the protocol - HTTPS is preferred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Confirm with show management api http-commands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Authenticate with a device username and password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Restrict access with an ACL in production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11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8A6851-032F-6C7A-70A2-5E8939844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473" y="2988015"/>
            <a:ext cx="7772400" cy="21015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Arista EOS exposes a programmable interface that returns structured JSON. What is it called?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NETCONF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eAPI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SNMP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Syslog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Arista EOS exposes a programmable interface that returns structured JSON. What is it called?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NETCONF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eAPI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SNMP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Syslog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eAPI and pyeapi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What Is eAPI?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JSON-RPC API served by the switch over HTTP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You POST a list of CLI commands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switch returns results as JSON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Ask for text or fully structured output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programmatic front door to EOS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15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B71D5E-D3E9-88EC-E180-49D2B4A99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789" y="2782458"/>
            <a:ext cx="7772400" cy="25027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JSON-RPC and Structured Output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Request lists the commands and an output format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Format json gives structured data per command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Format text gives raw CLI output when needed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Structured output maps straight to Python dicts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No regex, no TextFSM templates required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16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A1FFE0-6F44-F4B9-D262-EBF780DB2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449" y="2766248"/>
            <a:ext cx="7772400" cy="25450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Calling eAPI with requests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Build a JSON-RPC payload with method runCmds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POST it to the switch over HTTPS with requests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Pass device credentials with basic auth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Read the JSON result and index into it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Works from any language, not just Python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17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174F98-94F7-4FC7-1CA0-59AF6B26B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110" y="2882411"/>
            <a:ext cx="7772400" cy="23127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The pyeapi Library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pyeapi is Arista's official Python client for eAPI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Handles the JSON-RPC details for you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Configure devices in an eapi.conf file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Connect by name, then run commands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Cleaner than hand-building requests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A24912-B85D-6E47-1496-24A91D15F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796" y="3003855"/>
            <a:ext cx="7772400" cy="20698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Running Show Commands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node.enable() runs show commands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Results come back as structured Python data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Index into the result by key, like a dictionary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Collect state across many switches in a loop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read path for Arista automation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19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45CCB4-A7BE-E2C4-6037-14053ED06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449" y="3003855"/>
            <a:ext cx="7772400" cy="206982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Sending Configuration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node.config() applies configuration commands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Pass a list of config lines to run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Changes take effect immediately on the device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Combine reads and writes in one script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write path for Arista automation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8D2A-97A4-44EF-BC1A-10C551A3FEB1}" type="slidenum">
              <a:rPr lang="en-US" smtClean="0"/>
              <a:t>20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39C9E4-8AE7-9C40-0FD4-46C33D739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127" y="3003855"/>
            <a:ext cx="7772400" cy="20698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Handling Responses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Every command returns a structured result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Check for errors before trusting the data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Wrap calls in try and except for robustness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Log failures and continue across devices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Save structured results as JSON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F180-C1A1-442D-A126-2CD47CEC8B51}" type="slidenum">
              <a:rPr lang="en-US" smtClean="0"/>
              <a:t>21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65475C-99D3-E13C-4BDB-3CF91F747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779" y="2782458"/>
            <a:ext cx="7772400" cy="250279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eAPI responses are returned in which format, making them easy to parse?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Raw CLI text only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JSON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CSV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Syslog messages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eAPI responses are returned in which format, making them easy to parse?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Raw CLI text only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JSON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CSV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Syslog messages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Automating Arista with Ansible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The arista.eos Collection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Install with ansible-galaxy collection install arista.eos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Provides eos_command, eos_config, eos_facts, and more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Connects over eAPI or SSH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Same playbook structure you already know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Idempotent config, just like cisco.ios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DA7D-CB4A-4448-A140-FC22774B07C9}" type="slidenum">
              <a:rPr lang="en-US" smtClean="0"/>
              <a:t>25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054702-B655-9934-ED8A-B5D93C2FD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860" y="3041804"/>
            <a:ext cx="8338238" cy="199392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eos_command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Runs show and operational commands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Register the output for later use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Returns text or structured data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read counterpart to eos_config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Mirrors ios_command from Day 1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A26D5-D7E7-46D0-B8AC-580A4564F7F0}" type="slidenum">
              <a:rPr lang="en-US" smtClean="0"/>
              <a:t>26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461DCA-C5D5-80FC-0ACF-5DA9BCD55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457" y="3003855"/>
            <a:ext cx="7772400" cy="206982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eos_config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Pushes configuration lines idempotently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Use lines and parents like ios_config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Compares against the running config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Reports changed only when it modifies the device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write module for Arista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27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81B2D1-FF3F-EC83-8A8F-7C84E3EBD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458" y="2771528"/>
            <a:ext cx="7772400" cy="253447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eos_facts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Gathers structured facts from the device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Populates ansible_net_ variables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Feed facts into templates and conditions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Works the same as ios_facts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Reliable, structured device data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A8FA45-C175-644F-144A-2B2913DC1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118" y="3003855"/>
            <a:ext cx="7772400" cy="206982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Structured Facts and Templates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Combine eos_facts with Jinja2 templates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Generate EOS config from per-device variables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Reuse the roles pattern from Day 2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One workflow across Cisco and Arista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Vendor-neutral automation in practice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29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4FD471-E4D0-EE0A-6A70-17E84121C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796" y="2750407"/>
            <a:ext cx="7772400" cy="257671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Which arista.eos module pushes configuration to an EOS device?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eos_command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eos_facts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eos_config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eos_show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Which arista.eos module pushes configuration to an EOS device?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eos_command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eos_facts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eos_config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eos_show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CloudVision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What Is CloudVision?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Arista's platform for fleet-wide management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One place to configure, monitor, and audit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Collects streaming telemetry from every device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Provides change control and rollback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Turns per-device work into network-wide workflows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33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 descr="Arista CloudVision | DataSwitchStore.com">
            <a:extLst>
              <a:ext uri="{FF2B5EF4-FFF2-40B4-BE49-F238E27FC236}">
                <a16:creationId xmlns:a16="http://schemas.microsoft.com/office/drawing/2014/main" id="{60F0245B-A0B4-A54A-48D1-9B5D5D2AF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874" y="2447422"/>
            <a:ext cx="4196694" cy="250763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Streaming Telemetry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Devices stream state to CloudVision continuously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Far richer and faster than SNMP polling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See real-time and historical network state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Detect problems as they happen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data backbone of CloudVision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34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E28FFE-F724-DC85-EC3A-679FC3C14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474" y="2792649"/>
            <a:ext cx="7772400" cy="249223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The Network-Wide State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CloudVision holds a model of the whole network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Every device's config and state in one view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Search and compare across the fleet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Roll back the entire network to a point in time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State-driven, not device-by-device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35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13A038-4C73-F006-9AE9-CF2F58D7B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772" y="2898252"/>
            <a:ext cx="7772400" cy="228103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Configlets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configlet is a reusable block of configuration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Assign configlets to devices or containers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Compose a device config from several configlets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Static text or generated by a builder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building block of CloudVision config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36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8B6498-C52B-DF72-D021-DC46E254A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804" y="2803209"/>
            <a:ext cx="7772400" cy="247111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Tasks and Change Control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pending change becomes a task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Tasks are grouped into change controls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Review, approve, and schedule changes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Execute with an audit trail and rollback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Safe, governed changes at scale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37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54F15E-5738-7D8F-BDE8-A9CDB0B72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091" y="2496959"/>
            <a:ext cx="7772400" cy="308361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Snapshots and Compliance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Snapshots capture device state on a schedule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Compare against a baseline for drift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Compliance checks flag non-standard config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Catch unauthorized or accidental changes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Continuous assurance across the fleet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CB8063-362B-C771-D995-0BA163843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27221"/>
            <a:ext cx="7052569" cy="222309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CloudVision Automation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The CloudVision API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CloudVision exposes a full REST and gRPC API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Manage configlets, devices, and change control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Query telemetry and compliance programmatically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Everything the UI does, the API can do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basis for automating CloudVision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40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C904A6-D82F-C014-D9C4-7AD399A7B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070" y="2433597"/>
            <a:ext cx="7772400" cy="321033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The cvprac Library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cvprac is Arista's Python client for CloudVision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Wraps the REST API in convenient methods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Authenticate, then call methods by name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Manage configlets, containers, and tasks in code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practical way to automate CloudVision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41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2AE8AF-3DD4-3621-B23E-ED2B6E1C4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214" y="3014415"/>
            <a:ext cx="7772400" cy="204870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Managing Configlets in Code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Create and update configlets programmatically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Assign them to devices or containers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Generate configlet content from templates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Version configlet definitions in Git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Config as code, applied through CloudVision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42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D811C4-91C1-E2AC-55BD-13007CCF2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990" y="2475839"/>
            <a:ext cx="7772400" cy="312585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Automating Change Control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Build and submit change controls via the API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Automate approval and scheduled execution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Integrate with CI/CD pipelines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Roll changes out safely and repeatably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Governed automation end to end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43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ECCE9D-B172-83B1-87B2-7EC6B40CF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458" y="2475839"/>
            <a:ext cx="7772400" cy="312585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In CloudVision, what is the reusable block of configuration you assign to devices?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A playbook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A configlet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A getter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A tfvars file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B28A1-F532-4810-8899-82C91B6CED4C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In CloudVision, what is the reusable block of configuration you assign to devices?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A playbook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configlet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A getter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A tfvars file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F6AB-B395-4405-B034-BC36D0BC9981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Infrastructure as Code with AVD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What Is AVD?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Arista Validated Designs - an Ansible collection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Describe the fabric in a structured data model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AVD generates complete, validated EOS configs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Deploy directly or through CloudVision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Infrastructure as code for the whole network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47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358B04-754D-9B05-8CB3-E7BAD5E8C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458" y="2475839"/>
            <a:ext cx="7772400" cy="312585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Data Models and Roles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Define the fabric intent in YAML variables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AVD roles turn that model into configuration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Built-in best practices and validation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Change the model, regenerate the fabric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Intent-based networking in practice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DA3E56-468A-F05C-2CDD-648F6A65F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491" y="2856010"/>
            <a:ext cx="7772400" cy="236551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Generating EOS Configs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AVD renders per-device configuration from the model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Also produces documentation automatically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Review the generated configs before deploy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Consistent output across the entire fabric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Templates and variables at fabric scale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49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765C5A-006A-7399-6D8B-811E10272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289" y="2560691"/>
            <a:ext cx="7772400" cy="272456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Deploying with CloudVision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AVD can push configs straight to CloudVision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Changes arrive as CloudVision change controls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Review and approve before execution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Full audit trail and rollback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Design, generate, deploy - one pipeline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50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A150A7-145B-7707-032A-F9588308E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825" y="2475839"/>
            <a:ext cx="7772400" cy="312585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Where It All Comes Together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Terraform builds the cloud network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AVD and Ansible generate device configuration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Python and eAPI handle custom logic and data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CloudVision governs and monitors at scale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One toolkit, the right tool for each layer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51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1626F3-4DD7-85CB-FDD7-6CC273180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336" y="2475839"/>
            <a:ext cx="7772400" cy="312585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The Day 5 Labs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Lab Environment Notes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Day 5 uses an Arista EOS lab with CloudVision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This is separate from the AWS Cisco environment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Your instructor provides access details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Confirm you can reach the switches and CloudVision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eAPI must be enabled on the lab devices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Lab 13: eAPI and pyeapi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Goal: Automate an Arista switch with eAPI and pyeapi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Steps: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Enable eAPI on the switch and confirm it is running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Call eAPI directly with requests and read the JSON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Install pyeapi and connect to the device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Run show commands and inspect structured output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Push a small config change with pyeapi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Lab 14: Arista with Ansible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Goal: Manage Arista with the arista.eos collection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Steps: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Install the arista.eos collection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Write an inventory using the eAPI connection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Gather facts with eos_facts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Push configuration with eos_config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Confirm idempotency on a second run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Lab 15: CloudVision Automation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Goal: Automate CloudVision with the cvprac library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Steps: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Install cvprac and authenticate to CloudVision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List devices and existing configlets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Create or update a configlet from a template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Assign it and generate the resulting task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Execute the change control and verify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Across the course, which tool provisions cloud infrastructure rather than configuring existing devices?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Ansible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Netmiko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Terraform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NAPALM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10B6-DCD5-45F6-98D7-00CC4FC5967A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Across the course, which tool provisions cloud infrastructure rather than configuring existing devices?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Ansible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Netmiko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Terraform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NAPALM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76F1-95F5-4B51-AFAC-41833E3134C4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Course Summary - Five Days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Day 1: YAML, Ansible, and idempotency - the foundations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Day 2: Variables, templates, roles, and Vault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Day 3: Python - Netmiko, NAPALM, and APIs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Day 4: Terraform - infrastructure as code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Day 5: Arista EOS and CloudVision at scale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One toolkit - pick the right tool for each job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138702"/>
            <a:ext cx="1212166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Where to Go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9427" y="1387488"/>
            <a:ext cx="11380974" cy="40053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Build a project combining Terraform, Ansible, and Python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Explore CI/CD pipelines for network automation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Certifications: Arista ACE, Red Hat Ansible, HashiCorp Terraform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Keep a lab running to practice safely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Automation is a practice - keep building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60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EF65DB60A2A340AA3DE20CE3F38BF3" ma:contentTypeVersion="11" ma:contentTypeDescription="Create a new document." ma:contentTypeScope="" ma:versionID="f166546885502db4352d4c921b2a9521">
  <xsd:schema xmlns:xsd="http://www.w3.org/2001/XMLSchema" xmlns:xs="http://www.w3.org/2001/XMLSchema" xmlns:p="http://schemas.microsoft.com/office/2006/metadata/properties" xmlns:ns2="43c38521-ebb8-463a-b3a6-3489c212a8dd" xmlns:ns3="c50fc950-ce8b-4368-ba1f-50a696573338" targetNamespace="http://schemas.microsoft.com/office/2006/metadata/properties" ma:root="true" ma:fieldsID="0db14a3718d9246ba2e15cb3805e1e65" ns2:_="" ns3:_="">
    <xsd:import namespace="43c38521-ebb8-463a-b3a6-3489c212a8dd"/>
    <xsd:import namespace="c50fc950-ce8b-4368-ba1f-50a6965733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38521-ebb8-463a-b3a6-3489c212a8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fcb8236-1807-4752-b30f-050d9d4b9b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0fc950-ce8b-4368-ba1f-50a69657333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118a8d4-1b31-430b-b52a-9696e830da40}" ma:internalName="TaxCatchAll" ma:showField="CatchAllData" ma:web="c50fc950-ce8b-4368-ba1f-50a6965733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50fc950-ce8b-4368-ba1f-50a696573338" xsi:nil="true"/>
    <lcf76f155ced4ddcb4097134ff3c332f xmlns="43c38521-ebb8-463a-b3a6-3489c212a8d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C26A85F-03FA-45D3-85EA-1BD106F7E1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c38521-ebb8-463a-b3a6-3489c212a8dd"/>
    <ds:schemaRef ds:uri="c50fc950-ce8b-4368-ba1f-50a6965733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05883B-1F0E-43E7-A00A-5782E35002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AF023A-22CA-4691-87BD-C8B42E6FD9DD}">
  <ds:schemaRefs>
    <ds:schemaRef ds:uri="3295d3db-25d5-4f3c-8570-33caabf209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c50fc950-ce8b-4368-ba1f-50a696573338"/>
    <ds:schemaRef ds:uri="43c38521-ebb8-463a-b3a6-3489c212a8dd"/>
  </ds:schemaRefs>
</ds:datastoreItem>
</file>

<file path=docMetadata/LabelInfo.xml><?xml version="1.0" encoding="utf-8"?>
<clbl:labelList xmlns:clbl="http://schemas.microsoft.com/office/2020/mipLabelMetadata">
  <clbl:label id="{20439113-2718-46f3-8896-3f7b5851f011}" enabled="0" method="" siteId="{20439113-2718-46f3-8896-3f7b5851f01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11297</TotalTime>
  <Words>5221</Words>
  <Application>Microsoft Macintosh PowerPoint</Application>
  <PresentationFormat>Widescreen</PresentationFormat>
  <Paragraphs>756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2" baseType="lpstr">
      <vt:lpstr>Arial</vt:lpstr>
      <vt:lpstr>Arial Black</vt:lpstr>
      <vt:lpstr>Arial Black (Headings)</vt:lpstr>
      <vt:lpstr>Calibri</vt:lpstr>
      <vt:lpstr>Courier New</vt:lpstr>
      <vt:lpstr>Gadugi</vt:lpstr>
      <vt:lpstr>Leelawadee</vt:lpstr>
      <vt:lpstr>Leelawadee UI</vt:lpstr>
      <vt:lpstr>Leelawadee UI Semilight</vt:lpstr>
      <vt:lpstr>Nirmala UI Semilight</vt:lpstr>
      <vt:lpstr>Wingdings</vt:lpstr>
      <vt:lpstr>Essential</vt:lpstr>
      <vt:lpstr>PowerPoint Presentation</vt:lpstr>
      <vt:lpstr>PowerPoint Presentation</vt:lpstr>
      <vt:lpstr>Where Day 4 Left Off</vt:lpstr>
      <vt:lpstr>Agenda for Day 5</vt:lpstr>
      <vt:lpstr>Arista EOS Fundamentals</vt:lpstr>
      <vt:lpstr>Why Arista EOS?</vt:lpstr>
      <vt:lpstr>The EOS Architecture</vt:lpstr>
      <vt:lpstr>EOS and Linux</vt:lpstr>
      <vt:lpstr>Management Options at a Glance</vt:lpstr>
      <vt:lpstr>The eAPI Interface</vt:lpstr>
      <vt:lpstr>Enabling eAPI</vt:lpstr>
      <vt:lpstr>PowerPoint Presentation</vt:lpstr>
      <vt:lpstr>PowerPoint Presentation</vt:lpstr>
      <vt:lpstr>eAPI and pyeapi</vt:lpstr>
      <vt:lpstr>What Is eAPI?</vt:lpstr>
      <vt:lpstr>JSON-RPC and Structured Output</vt:lpstr>
      <vt:lpstr>Calling eAPI with requests</vt:lpstr>
      <vt:lpstr>The pyeapi Library</vt:lpstr>
      <vt:lpstr>Running Show Commands</vt:lpstr>
      <vt:lpstr>Sending Configuration</vt:lpstr>
      <vt:lpstr>Handling Responses</vt:lpstr>
      <vt:lpstr>PowerPoint Presentation</vt:lpstr>
      <vt:lpstr>PowerPoint Presentation</vt:lpstr>
      <vt:lpstr>Automating Arista with Ansible</vt:lpstr>
      <vt:lpstr>The arista.eos Collection</vt:lpstr>
      <vt:lpstr>eos_command</vt:lpstr>
      <vt:lpstr>eos_config</vt:lpstr>
      <vt:lpstr>eos_facts</vt:lpstr>
      <vt:lpstr>Structured Facts and Templates</vt:lpstr>
      <vt:lpstr>PowerPoint Presentation</vt:lpstr>
      <vt:lpstr>PowerPoint Presentation</vt:lpstr>
      <vt:lpstr>CloudVision</vt:lpstr>
      <vt:lpstr>What Is CloudVision?</vt:lpstr>
      <vt:lpstr>Streaming Telemetry</vt:lpstr>
      <vt:lpstr>The Network-Wide State</vt:lpstr>
      <vt:lpstr>Configlets</vt:lpstr>
      <vt:lpstr>Tasks and Change Control</vt:lpstr>
      <vt:lpstr>Snapshots and Compliance</vt:lpstr>
      <vt:lpstr>CloudVision Automation</vt:lpstr>
      <vt:lpstr>The CloudVision API</vt:lpstr>
      <vt:lpstr>The cvprac Library</vt:lpstr>
      <vt:lpstr>Managing Configlets in Code</vt:lpstr>
      <vt:lpstr>Automating Change Control</vt:lpstr>
      <vt:lpstr>PowerPoint Presentation</vt:lpstr>
      <vt:lpstr>PowerPoint Presentation</vt:lpstr>
      <vt:lpstr>Infrastructure as Code with AVD</vt:lpstr>
      <vt:lpstr>What Is AVD?</vt:lpstr>
      <vt:lpstr>Data Models and Roles</vt:lpstr>
      <vt:lpstr>Generating EOS Configs</vt:lpstr>
      <vt:lpstr>Deploying with CloudVision</vt:lpstr>
      <vt:lpstr>Where It All Comes Together</vt:lpstr>
      <vt:lpstr>The Day 5 Labs</vt:lpstr>
      <vt:lpstr>Lab Environment Notes</vt:lpstr>
      <vt:lpstr>Lab 13: eAPI and pyeapi</vt:lpstr>
      <vt:lpstr>Lab 14: Arista with Ansible</vt:lpstr>
      <vt:lpstr>Lab 15: CloudVision Automation</vt:lpstr>
      <vt:lpstr>PowerPoint Presentation</vt:lpstr>
      <vt:lpstr>PowerPoint Presentation</vt:lpstr>
      <vt:lpstr>Course Summary - Five Days</vt:lpstr>
      <vt:lpstr>Where to Go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Donis Marshall</dc:creator>
  <cp:lastModifiedBy>Tommy Shorez</cp:lastModifiedBy>
  <cp:revision>28</cp:revision>
  <cp:lastPrinted>2022-09-12T00:43:32Z</cp:lastPrinted>
  <dcterms:created xsi:type="dcterms:W3CDTF">2016-09-10T10:34:19Z</dcterms:created>
  <dcterms:modified xsi:type="dcterms:W3CDTF">2026-07-16T22:25:03Z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0x01010008EF65DB60A2A340AA3DE20CE3F38BF3</vt:lpwstr>
  </property>
  <property fmtid="{D5CDD505-2E9C-101B-9397-08002B2CF9AE}" pid="3" name="MediaServiceImageTags">
    <vt:lpwstr/>
  </property>
  <property fmtid="{D5CDD505-2E9C-101B-9397-08002B2CF9AE}" pid="4" name="Order">
    <vt:lpwstr>48900.0000000000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  <property fmtid="{D5CDD505-2E9C-101B-9397-08002B2CF9AE}" pid="11" name="_SharedFileIndex">
    <vt:lpwstr/>
  </property>
  <property fmtid="{D5CDD505-2E9C-101B-9397-08002B2CF9AE}" pid="12" name="_SourceUrl">
    <vt:lpwstr/>
  </property>
</Properties>
</file>