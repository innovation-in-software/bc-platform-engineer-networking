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65"/>
  </p:notesMasterIdLst>
  <p:handoutMasterIdLst>
    <p:handoutMasterId r:id="rId66"/>
  </p:handoutMasterIdLst>
  <p:sldIdLst>
    <p:sldId id="5200" r:id="rId5"/>
    <p:sldId id="5201" r:id="rId6"/>
    <p:sldId id="5202" r:id="rId7"/>
    <p:sldId id="5203" r:id="rId8"/>
    <p:sldId id="5204" r:id="rId9"/>
    <p:sldId id="5205" r:id="rId10"/>
    <p:sldId id="5206" r:id="rId11"/>
    <p:sldId id="5207" r:id="rId12"/>
    <p:sldId id="5208" r:id="rId13"/>
    <p:sldId id="5209" r:id="rId14"/>
    <p:sldId id="5210" r:id="rId15"/>
    <p:sldId id="5211" r:id="rId16"/>
    <p:sldId id="5212" r:id="rId17"/>
    <p:sldId id="5213" r:id="rId18"/>
    <p:sldId id="5214" r:id="rId19"/>
    <p:sldId id="5215" r:id="rId20"/>
    <p:sldId id="5216" r:id="rId21"/>
    <p:sldId id="5217" r:id="rId22"/>
    <p:sldId id="5218" r:id="rId23"/>
    <p:sldId id="5219" r:id="rId24"/>
    <p:sldId id="5220" r:id="rId25"/>
    <p:sldId id="5221" r:id="rId26"/>
    <p:sldId id="5222" r:id="rId27"/>
    <p:sldId id="5223" r:id="rId28"/>
    <p:sldId id="5224" r:id="rId29"/>
    <p:sldId id="5225" r:id="rId30"/>
    <p:sldId id="5226" r:id="rId31"/>
    <p:sldId id="5227" r:id="rId32"/>
    <p:sldId id="5228" r:id="rId33"/>
    <p:sldId id="5229" r:id="rId34"/>
    <p:sldId id="5230" r:id="rId35"/>
    <p:sldId id="5231" r:id="rId36"/>
    <p:sldId id="5232" r:id="rId37"/>
    <p:sldId id="5233" r:id="rId38"/>
    <p:sldId id="5234" r:id="rId39"/>
    <p:sldId id="5235" r:id="rId40"/>
    <p:sldId id="5236" r:id="rId41"/>
    <p:sldId id="5237" r:id="rId42"/>
    <p:sldId id="5238" r:id="rId43"/>
    <p:sldId id="5239" r:id="rId44"/>
    <p:sldId id="5240" r:id="rId45"/>
    <p:sldId id="5241" r:id="rId46"/>
    <p:sldId id="5242" r:id="rId47"/>
    <p:sldId id="5243" r:id="rId48"/>
    <p:sldId id="5244" r:id="rId49"/>
    <p:sldId id="5245" r:id="rId50"/>
    <p:sldId id="5246" r:id="rId51"/>
    <p:sldId id="5247" r:id="rId52"/>
    <p:sldId id="5248" r:id="rId53"/>
    <p:sldId id="5249" r:id="rId54"/>
    <p:sldId id="5250" r:id="rId55"/>
    <p:sldId id="5251" r:id="rId56"/>
    <p:sldId id="5252" r:id="rId57"/>
    <p:sldId id="5253" r:id="rId58"/>
    <p:sldId id="5254" r:id="rId59"/>
    <p:sldId id="5255" r:id="rId60"/>
    <p:sldId id="5256" r:id="rId61"/>
    <p:sldId id="5257" r:id="rId62"/>
    <p:sldId id="5258" r:id="rId63"/>
    <p:sldId id="5259" r:id="rId6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oduction" id="{DF6D6B3A-AE01-3D4B-83F8-037D656A1ACB}">
          <p14:sldIdLst>
            <p14:sldId id="5200"/>
            <p14:sldId id="5201"/>
            <p14:sldId id="5202"/>
            <p14:sldId id="5203"/>
            <p14:sldId id="5204"/>
            <p14:sldId id="5205"/>
            <p14:sldId id="5206"/>
            <p14:sldId id="5207"/>
            <p14:sldId id="5208"/>
            <p14:sldId id="5209"/>
            <p14:sldId id="5210"/>
            <p14:sldId id="5211"/>
            <p14:sldId id="5212"/>
            <p14:sldId id="5213"/>
            <p14:sldId id="5214"/>
            <p14:sldId id="5215"/>
            <p14:sldId id="5216"/>
            <p14:sldId id="5217"/>
            <p14:sldId id="5218"/>
            <p14:sldId id="5219"/>
            <p14:sldId id="5220"/>
            <p14:sldId id="5221"/>
            <p14:sldId id="5222"/>
            <p14:sldId id="5223"/>
            <p14:sldId id="5224"/>
            <p14:sldId id="5225"/>
            <p14:sldId id="5226"/>
            <p14:sldId id="5227"/>
            <p14:sldId id="5228"/>
            <p14:sldId id="5229"/>
            <p14:sldId id="5230"/>
            <p14:sldId id="5231"/>
            <p14:sldId id="5232"/>
            <p14:sldId id="5233"/>
            <p14:sldId id="5234"/>
            <p14:sldId id="5235"/>
            <p14:sldId id="5236"/>
            <p14:sldId id="5237"/>
            <p14:sldId id="5238"/>
            <p14:sldId id="5239"/>
            <p14:sldId id="5240"/>
            <p14:sldId id="5241"/>
            <p14:sldId id="5242"/>
            <p14:sldId id="5243"/>
            <p14:sldId id="5244"/>
            <p14:sldId id="5245"/>
            <p14:sldId id="5246"/>
            <p14:sldId id="5247"/>
            <p14:sldId id="5248"/>
            <p14:sldId id="5249"/>
            <p14:sldId id="5250"/>
            <p14:sldId id="5251"/>
            <p14:sldId id="5252"/>
            <p14:sldId id="5253"/>
            <p14:sldId id="5254"/>
            <p14:sldId id="5255"/>
            <p14:sldId id="5256"/>
            <p14:sldId id="5257"/>
            <p14:sldId id="5258"/>
            <p14:sldId id="5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is Dell" initials="DD" lastIdx="20" clrIdx="0">
    <p:extLst>
      <p:ext uri="{19B8F6BF-5375-455C-9EA6-DF929625EA0E}">
        <p15:presenceInfo xmlns:p15="http://schemas.microsoft.com/office/powerpoint/2012/main" userId="Donis Dell" providerId="None"/>
      </p:ext>
    </p:extLst>
  </p:cmAuthor>
  <p:cmAuthor id="2" name="Donis Marshall" initials="DM" lastIdx="2" clrIdx="1">
    <p:extLst>
      <p:ext uri="{19B8F6BF-5375-455C-9EA6-DF929625EA0E}">
        <p15:presenceInfo xmlns:p15="http://schemas.microsoft.com/office/powerpoint/2012/main" userId="5344b77e839037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82E"/>
    <a:srgbClr val="DCE2EF"/>
    <a:srgbClr val="FFFFFF"/>
    <a:srgbClr val="7A7A7A"/>
    <a:srgbClr val="000000"/>
    <a:srgbClr val="BAC5DF"/>
    <a:srgbClr val="FFFF00"/>
    <a:srgbClr val="F8F8F8"/>
    <a:srgbClr val="FFE996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48"/>
    <p:restoredTop sz="76781" autoAdjust="0"/>
  </p:normalViewPr>
  <p:slideViewPr>
    <p:cSldViewPr snapToGrid="0">
      <p:cViewPr varScale="1">
        <p:scale>
          <a:sx n="96" d="100"/>
          <a:sy n="96" d="100"/>
        </p:scale>
        <p:origin x="6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Pisarski" userId="d02b65583013a7bc" providerId="LiveId" clId="{C8F6ED65-30DA-4A82-8BCB-159659A529E9}"/>
    <pc:docChg chg="undo custSel addSld delSld modSld sldOrd modSection">
      <pc:chgData name="Christophe Pisarski" userId="d02b65583013a7bc" providerId="LiveId" clId="{C8F6ED65-30DA-4A82-8BCB-159659A529E9}" dt="2025-11-03T20:51:46.319" v="1043"/>
      <pc:docMkLst>
        <pc:docMk/>
      </pc:docMkLst>
      <pc:sldChg chg="modSp add mod">
        <pc:chgData name="Christophe Pisarski" userId="d02b65583013a7bc" providerId="LiveId" clId="{C8F6ED65-30DA-4A82-8BCB-159659A529E9}" dt="2025-11-03T20:50:38.626" v="1027" actId="15"/>
        <pc:sldMkLst>
          <pc:docMk/>
          <pc:sldMk cId="1269055248" sldId="5323"/>
        </pc:sldMkLst>
        <pc:spChg chg="mod">
          <ac:chgData name="Christophe Pisarski" userId="d02b65583013a7bc" providerId="LiveId" clId="{C8F6ED65-30DA-4A82-8BCB-159659A529E9}" dt="2025-11-03T20:50:38.626" v="1027" actId="15"/>
          <ac:spMkLst>
            <pc:docMk/>
            <pc:sldMk cId="1269055248" sldId="5323"/>
            <ac:spMk id="4" creationId="{287F0F74-8156-3987-3F21-08B99EC825AE}"/>
          </ac:spMkLst>
        </pc:spChg>
      </pc:sldChg>
      <pc:sldChg chg="modSp add mod">
        <pc:chgData name="Christophe Pisarski" userId="d02b65583013a7bc" providerId="LiveId" clId="{C8F6ED65-30DA-4A82-8BCB-159659A529E9}" dt="2025-11-03T20:08:39.406" v="986"/>
        <pc:sldMkLst>
          <pc:docMk/>
          <pc:sldMk cId="2838373956" sldId="5419"/>
        </pc:sldMkLst>
        <pc:spChg chg="mod">
          <ac:chgData name="Christophe Pisarski" userId="d02b65583013a7bc" providerId="LiveId" clId="{C8F6ED65-30DA-4A82-8BCB-159659A529E9}" dt="2025-11-03T20:08:39.406" v="986"/>
          <ac:spMkLst>
            <pc:docMk/>
            <pc:sldMk cId="2838373956" sldId="5419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4:54.489" v="978"/>
        <pc:sldMkLst>
          <pc:docMk/>
          <pc:sldMk cId="1789927104" sldId="5420"/>
        </pc:sldMkLst>
        <pc:spChg chg="mod">
          <ac:chgData name="Christophe Pisarski" userId="d02b65583013a7bc" providerId="LiveId" clId="{C8F6ED65-30DA-4A82-8BCB-159659A529E9}" dt="2025-11-03T19:04:54.489" v="978"/>
          <ac:spMkLst>
            <pc:docMk/>
            <pc:sldMk cId="1789927104" sldId="5420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5:07.791" v="982"/>
        <pc:sldMkLst>
          <pc:docMk/>
          <pc:sldMk cId="2212894656" sldId="5421"/>
        </pc:sldMkLst>
        <pc:spChg chg="mod">
          <ac:chgData name="Christophe Pisarski" userId="d02b65583013a7bc" providerId="LiveId" clId="{C8F6ED65-30DA-4A82-8BCB-159659A529E9}" dt="2025-11-03T19:05:07.791" v="982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20:11:27.130" v="996"/>
        <pc:sldMkLst>
          <pc:docMk/>
          <pc:sldMk cId="1948781550" sldId="5422"/>
        </pc:sldMkLst>
        <pc:spChg chg="mod">
          <ac:chgData name="Christophe Pisarski" userId="d02b65583013a7bc" providerId="LiveId" clId="{C8F6ED65-30DA-4A82-8BCB-159659A529E9}" dt="2025-11-03T20:11:27.130" v="996"/>
          <ac:spMkLst>
            <pc:docMk/>
            <pc:sldMk cId="1948781550" sldId="5422"/>
            <ac:spMk id="3" creationId="{3F20C819-E920-9640-8708-4F9E5C2C241C}"/>
          </ac:spMkLst>
        </pc:spChg>
      </pc:sldChg>
      <pc:sldChg chg="modSp add mod ord">
        <pc:chgData name="Christophe Pisarski" userId="d02b65583013a7bc" providerId="LiveId" clId="{C8F6ED65-30DA-4A82-8BCB-159659A529E9}" dt="2025-11-03T20:10:37.522" v="992"/>
        <pc:sldMkLst>
          <pc:docMk/>
          <pc:sldMk cId="921373599" sldId="5423"/>
        </pc:sldMkLst>
        <pc:spChg chg="mod">
          <ac:chgData name="Christophe Pisarski" userId="d02b65583013a7bc" providerId="LiveId" clId="{C8F6ED65-30DA-4A82-8BCB-159659A529E9}" dt="2025-11-03T20:10:28.197" v="990"/>
          <ac:spMkLst>
            <pc:docMk/>
            <pc:sldMk cId="921373599" sldId="5423"/>
            <ac:spMk id="3" creationId="{0831CFFE-2DA1-7DA9-AD74-A5717AC17359}"/>
          </ac:spMkLst>
        </pc:spChg>
      </pc:sldChg>
      <pc:sldChg chg="modSp add mod">
        <pc:chgData name="Christophe Pisarski" userId="d02b65583013a7bc" providerId="LiveId" clId="{C8F6ED65-30DA-4A82-8BCB-159659A529E9}" dt="2025-11-03T20:12:31.853" v="1008"/>
        <pc:sldMkLst>
          <pc:docMk/>
          <pc:sldMk cId="1821725136" sldId="5424"/>
        </pc:sldMkLst>
        <pc:spChg chg="mod">
          <ac:chgData name="Christophe Pisarski" userId="d02b65583013a7bc" providerId="LiveId" clId="{C8F6ED65-30DA-4A82-8BCB-159659A529E9}" dt="2025-11-03T20:12:31.853" v="1008"/>
          <ac:spMkLst>
            <pc:docMk/>
            <pc:sldMk cId="1821725136" sldId="5424"/>
            <ac:spMk id="3" creationId="{5C8F29A5-4E71-E105-8886-C6D2F22137B5}"/>
          </ac:spMkLst>
        </pc:spChg>
      </pc:sldChg>
      <pc:sldChg chg="modSp add mod">
        <pc:chgData name="Christophe Pisarski" userId="d02b65583013a7bc" providerId="LiveId" clId="{C8F6ED65-30DA-4A82-8BCB-159659A529E9}" dt="2025-11-03T20:13:32.487" v="1013"/>
        <pc:sldMkLst>
          <pc:docMk/>
          <pc:sldMk cId="3785603568" sldId="5425"/>
        </pc:sldMkLst>
        <pc:spChg chg="mod">
          <ac:chgData name="Christophe Pisarski" userId="d02b65583013a7bc" providerId="LiveId" clId="{C8F6ED65-30DA-4A82-8BCB-159659A529E9}" dt="2025-11-03T20:13:32.487" v="1013"/>
          <ac:spMkLst>
            <pc:docMk/>
            <pc:sldMk cId="3785603568" sldId="5425"/>
            <ac:spMk id="3" creationId="{51688AB2-DE8D-E6FA-870F-75D8C46C2DB3}"/>
          </ac:spMkLst>
        </pc:spChg>
      </pc:sldChg>
      <pc:sldChg chg="modSp add mod">
        <pc:chgData name="Christophe Pisarski" userId="d02b65583013a7bc" providerId="LiveId" clId="{C8F6ED65-30DA-4A82-8BCB-159659A529E9}" dt="2025-11-03T20:50:05.844" v="1022" actId="15"/>
        <pc:sldMkLst>
          <pc:docMk/>
          <pc:sldMk cId="2845436603" sldId="5426"/>
        </pc:sldMkLst>
        <pc:spChg chg="mod">
          <ac:chgData name="Christophe Pisarski" userId="d02b65583013a7bc" providerId="LiveId" clId="{C8F6ED65-30DA-4A82-8BCB-159659A529E9}" dt="2025-11-03T20:50:05.844" v="1022" actId="15"/>
          <ac:spMkLst>
            <pc:docMk/>
            <pc:sldMk cId="2845436603" sldId="5426"/>
            <ac:spMk id="4" creationId="{291F868F-8620-18F8-FC39-5FB41C5BF454}"/>
          </ac:spMkLst>
        </pc:spChg>
        <pc:spChg chg="mod">
          <ac:chgData name="Christophe Pisarski" userId="d02b65583013a7bc" providerId="LiveId" clId="{C8F6ED65-30DA-4A82-8BCB-159659A529E9}" dt="2025-11-03T20:49:56.543" v="1017" actId="20577"/>
          <ac:spMkLst>
            <pc:docMk/>
            <pc:sldMk cId="2845436603" sldId="5426"/>
            <ac:spMk id="10" creationId="{F932C9E3-254A-5BF3-4DE0-BD5EA1CB7B11}"/>
          </ac:spMkLst>
        </pc:spChg>
      </pc:sldChg>
      <pc:sldChg chg="modSp add mod">
        <pc:chgData name="Christophe Pisarski" userId="d02b65583013a7bc" providerId="LiveId" clId="{C8F6ED65-30DA-4A82-8BCB-159659A529E9}" dt="2025-11-03T20:51:30.986" v="1036"/>
        <pc:sldMkLst>
          <pc:docMk/>
          <pc:sldMk cId="2494933271" sldId="5427"/>
        </pc:sldMkLst>
        <pc:spChg chg="mod">
          <ac:chgData name="Christophe Pisarski" userId="d02b65583013a7bc" providerId="LiveId" clId="{C8F6ED65-30DA-4A82-8BCB-159659A529E9}" dt="2025-11-03T20:51:26.314" v="1035" actId="15"/>
          <ac:spMkLst>
            <pc:docMk/>
            <pc:sldMk cId="2494933271" sldId="5427"/>
            <ac:spMk id="4" creationId="{83CCDBEC-751E-52F4-FC4D-46868ACFC7A2}"/>
          </ac:spMkLst>
        </pc:spChg>
        <pc:spChg chg="mod">
          <ac:chgData name="Christophe Pisarski" userId="d02b65583013a7bc" providerId="LiveId" clId="{C8F6ED65-30DA-4A82-8BCB-159659A529E9}" dt="2025-11-03T20:51:30.986" v="1036"/>
          <ac:spMkLst>
            <pc:docMk/>
            <pc:sldMk cId="2494933271" sldId="5427"/>
            <ac:spMk id="10" creationId="{3FBE99C7-1D3E-CE41-2C10-BABB37520FEE}"/>
          </ac:spMkLst>
        </pc:spChg>
      </pc:sldChg>
      <pc:sldChg chg="modSp add mod">
        <pc:chgData name="Christophe Pisarski" userId="d02b65583013a7bc" providerId="LiveId" clId="{C8F6ED65-30DA-4A82-8BCB-159659A529E9}" dt="2025-11-03T20:51:46.319" v="1043"/>
        <pc:sldMkLst>
          <pc:docMk/>
          <pc:sldMk cId="299369119" sldId="5428"/>
        </pc:sldMkLst>
        <pc:spChg chg="mod">
          <ac:chgData name="Christophe Pisarski" userId="d02b65583013a7bc" providerId="LiveId" clId="{C8F6ED65-30DA-4A82-8BCB-159659A529E9}" dt="2025-11-03T20:51:41.944" v="1042" actId="15"/>
          <ac:spMkLst>
            <pc:docMk/>
            <pc:sldMk cId="299369119" sldId="5428"/>
            <ac:spMk id="4" creationId="{287868ED-2DE1-4CAB-DE44-D0558F832AD4}"/>
          </ac:spMkLst>
        </pc:spChg>
        <pc:spChg chg="mod">
          <ac:chgData name="Christophe Pisarski" userId="d02b65583013a7bc" providerId="LiveId" clId="{C8F6ED65-30DA-4A82-8BCB-159659A529E9}" dt="2025-11-03T20:51:46.319" v="1043"/>
          <ac:spMkLst>
            <pc:docMk/>
            <pc:sldMk cId="299369119" sldId="5428"/>
            <ac:spMk id="10" creationId="{76C88917-0FC2-9E7F-43F6-63B5802EDD37}"/>
          </ac:spMkLst>
        </pc:spChg>
      </pc:sldChg>
    </pc:docChg>
  </pc:docChgLst>
  <pc:docChgLst>
    <pc:chgData name="Christophe Pisarski" userId="S::chris.pisarski@opscosolutions.com::a3bc632b-29a9-457b-a7a6-086e990bc5ce" providerId="AD" clId="Web-{05D6C9EA-54CD-37A3-3894-F981A69EFAD1}"/>
    <pc:docChg chg="addSld delSld modSld sldOrd modSection">
      <pc:chgData name="Christophe Pisarski" userId="S::chris.pisarski@opscosolutions.com::a3bc632b-29a9-457b-a7a6-086e990bc5ce" providerId="AD" clId="Web-{05D6C9EA-54CD-37A3-3894-F981A69EFAD1}" dt="2025-11-04T20:17:23.098" v="19" actId="20577"/>
      <pc:docMkLst>
        <pc:docMk/>
      </pc:docMkLst>
      <pc:sldChg chg="modSp ord">
        <pc:chgData name="Christophe Pisarski" userId="S::chris.pisarski@opscosolutions.com::a3bc632b-29a9-457b-a7a6-086e990bc5ce" providerId="AD" clId="Web-{05D6C9EA-54CD-37A3-3894-F981A69EFAD1}" dt="2025-11-04T20:16:30.518" v="12" actId="20577"/>
        <pc:sldMkLst>
          <pc:docMk/>
          <pc:sldMk cId="2212894656" sldId="5421"/>
        </pc:sldMkLst>
        <pc:spChg chg="mod">
          <ac:chgData name="Christophe Pisarski" userId="S::chris.pisarski@opscosolutions.com::a3bc632b-29a9-457b-a7a6-086e990bc5ce" providerId="AD" clId="Web-{05D6C9EA-54CD-37A3-3894-F981A69EFAD1}" dt="2025-11-04T20:16:30.518" v="12" actId="20577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31.203" v="8" actId="20577"/>
        <pc:sldMkLst>
          <pc:docMk/>
          <pc:sldMk cId="1407374015" sldId="5429"/>
        </pc:sldMkLst>
        <pc:spChg chg="mod">
          <ac:chgData name="Christophe Pisarski" userId="S::chris.pisarski@opscosolutions.com::a3bc632b-29a9-457b-a7a6-086e990bc5ce" providerId="AD" clId="Web-{05D6C9EA-54CD-37A3-3894-F981A69EFAD1}" dt="2025-11-04T20:15:31.203" v="8" actId="20577"/>
          <ac:spMkLst>
            <pc:docMk/>
            <pc:sldMk cId="1407374015" sldId="5429"/>
            <ac:spMk id="3" creationId="{CDF3282E-9689-A628-FF40-04153F85D49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47.985" v="9" actId="20577"/>
        <pc:sldMkLst>
          <pc:docMk/>
          <pc:sldMk cId="2050092000" sldId="5430"/>
        </pc:sldMkLst>
        <pc:spChg chg="mod">
          <ac:chgData name="Christophe Pisarski" userId="S::chris.pisarski@opscosolutions.com::a3bc632b-29a9-457b-a7a6-086e990bc5ce" providerId="AD" clId="Web-{05D6C9EA-54CD-37A3-3894-F981A69EFAD1}" dt="2025-11-04T20:15:47.985" v="9" actId="20577"/>
          <ac:spMkLst>
            <pc:docMk/>
            <pc:sldMk cId="2050092000" sldId="5430"/>
            <ac:spMk id="3" creationId="{C99F0B6E-46A6-7F92-FA40-1BA7BCBBD04C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32.940" v="13" actId="20577"/>
        <pc:sldMkLst>
          <pc:docMk/>
          <pc:sldMk cId="3662756667" sldId="5431"/>
        </pc:sldMkLst>
        <pc:spChg chg="mod">
          <ac:chgData name="Christophe Pisarski" userId="S::chris.pisarski@opscosolutions.com::a3bc632b-29a9-457b-a7a6-086e990bc5ce" providerId="AD" clId="Web-{05D6C9EA-54CD-37A3-3894-F981A69EFAD1}" dt="2025-11-04T20:16:32.940" v="13" actId="20577"/>
          <ac:spMkLst>
            <pc:docMk/>
            <pc:sldMk cId="3662756667" sldId="5431"/>
            <ac:spMk id="3" creationId="{3E6D56CC-6649-E7CD-458E-9A08DD167A5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53.191" v="17" actId="20577"/>
        <pc:sldMkLst>
          <pc:docMk/>
          <pc:sldMk cId="2548019104" sldId="5432"/>
        </pc:sldMkLst>
        <pc:spChg chg="mod">
          <ac:chgData name="Christophe Pisarski" userId="S::chris.pisarski@opscosolutions.com::a3bc632b-29a9-457b-a7a6-086e990bc5ce" providerId="AD" clId="Web-{05D6C9EA-54CD-37A3-3894-F981A69EFAD1}" dt="2025-11-04T20:16:53.191" v="17" actId="20577"/>
          <ac:spMkLst>
            <pc:docMk/>
            <pc:sldMk cId="2548019104" sldId="5432"/>
            <ac:spMk id="3" creationId="{E3F7E5A8-70FA-23E9-8139-6E78FDDD1C10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02.019" v="18" actId="20577"/>
        <pc:sldMkLst>
          <pc:docMk/>
          <pc:sldMk cId="425596026" sldId="5433"/>
        </pc:sldMkLst>
        <pc:spChg chg="mod">
          <ac:chgData name="Christophe Pisarski" userId="S::chris.pisarski@opscosolutions.com::a3bc632b-29a9-457b-a7a6-086e990bc5ce" providerId="AD" clId="Web-{05D6C9EA-54CD-37A3-3894-F981A69EFAD1}" dt="2025-11-04T20:17:02.019" v="18" actId="20577"/>
          <ac:spMkLst>
            <pc:docMk/>
            <pc:sldMk cId="425596026" sldId="5433"/>
            <ac:spMk id="3" creationId="{BEF4A805-04CA-7BF0-5E79-8669750B008D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23.098" v="19" actId="20577"/>
        <pc:sldMkLst>
          <pc:docMk/>
          <pc:sldMk cId="1887911048" sldId="5434"/>
        </pc:sldMkLst>
        <pc:spChg chg="mod">
          <ac:chgData name="Christophe Pisarski" userId="S::chris.pisarski@opscosolutions.com::a3bc632b-29a9-457b-a7a6-086e990bc5ce" providerId="AD" clId="Web-{05D6C9EA-54CD-37A3-3894-F981A69EFAD1}" dt="2025-11-04T20:17:23.098" v="19" actId="20577"/>
          <ac:spMkLst>
            <pc:docMk/>
            <pc:sldMk cId="1887911048" sldId="5434"/>
            <ac:spMk id="3" creationId="{C102FF38-813B-3A07-699B-6E0086AE63DB}"/>
          </ac:spMkLst>
        </pc:spChg>
      </pc:sldChg>
    </pc:docChg>
  </pc:docChgLst>
  <pc:docChgLst>
    <pc:chgData name="Daniel Blanco" userId="S::daniel@opscosolutions.com::617a8655-ec2c-44e5-b2ee-a4e2490e9763" providerId="AD" clId="Web-{933B9EBF-00E0-7818-4370-7608D01E78B3}"/>
    <pc:docChg chg="addSld modSection">
      <pc:chgData name="Daniel Blanco" userId="S::daniel@opscosolutions.com::617a8655-ec2c-44e5-b2ee-a4e2490e9763" providerId="AD" clId="Web-{933B9EBF-00E0-7818-4370-7608D01E78B3}" dt="2025-11-20T18:10:56.979" v="0"/>
      <pc:docMkLst>
        <pc:docMk/>
      </pc:docMkLst>
      <pc:sldChg chg="add">
        <pc:chgData name="Daniel Blanco" userId="S::daniel@opscosolutions.com::617a8655-ec2c-44e5-b2ee-a4e2490e9763" providerId="AD" clId="Web-{933B9EBF-00E0-7818-4370-7608D01E78B3}" dt="2025-11-20T18:10:56.979" v="0"/>
        <pc:sldMkLst>
          <pc:docMk/>
          <pc:sldMk cId="560062097" sldId="54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02702324-D059-4239-BDE2-718484C5CD7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3D02100C-5FC6-4E55-A73F-BA402BFD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0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FD6B594A-5125-48A0-B9FD-E17B6C1AB51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4" tIns="46582" rIns="93164" bIns="4658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DAC03921-7077-42B0-8C81-48C0A93EA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Welcome to Day 4. So far we have configured devices - with Ansible, then with Python. Today we change what we automate.</a:t>
            </a:r>
          </a:p>
          <a:p>
            <a:r>
              <a:rPr lang="en-US" sz="1400" dirty="0"/>
              <a:t>Terraform provisions the infrastructure itself: the VPCs, subnets, routing, and security groups that our devices live in.</a:t>
            </a:r>
          </a:p>
          <a:p>
            <a:r>
              <a:rPr lang="en-US" sz="1400" dirty="0"/>
              <a:t>This is Infrastructure as Code for the cloud network. By the end of today you will build the entire AWS lab network from a few text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44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2934-626A-AD1C-0CF1-2C31DF4C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9911B-255D-C6DF-45E1-575E4132A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DF50-9859-8219-84F7-B010766C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Set the frame: we move up a layer, from configuring a router to creating the network it sits in.</a:t>
            </a:r>
          </a:p>
          <a:p>
            <a:r>
              <a:rPr lang="en-US" sz="1400" dirty="0"/>
              <a:t>Terraform is declarative like Ansible, but its job is standing up and tearing down cloud resources.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921E-C787-9BF1-3E26-2F7B31673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Anchor Day 4 in Day 3. Everything so far assumed the network - the VPC, subnets, routers - was already there.</a:t>
            </a:r>
          </a:p>
          <a:p>
            <a:r>
              <a:rPr lang="en-US" sz="1400" dirty="0"/>
              <a:t>Today we automate the layer beneath: creating and destroying that cloud infrastructure on demand.</a:t>
            </a:r>
          </a:p>
          <a:p>
            <a:r>
              <a:rPr lang="en-US" sz="1400" dirty="0"/>
              <a:t>Frame Terraform as the tool that builds the stage the other tools perform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7EAF-89BA-1471-D45D-E1D66383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709D6-6B2C-32BE-F82F-C815110B1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6ED90-00A3-2618-B17C-0C117E8AA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Preview the arc: understand Terraform, learn its language, learn its workflow, then build the AWS network piece by piece.</a:t>
            </a:r>
          </a:p>
          <a:p>
            <a:r>
              <a:rPr lang="en-US" sz="1400" dirty="0"/>
              <a:t>Each concept feeds the labs - Lab 10 builds a VPC, Lab 11 adds routing and security, Lab 12 parameterizes and tears it all down.</a:t>
            </a:r>
          </a:p>
          <a:p>
            <a:r>
              <a:rPr lang="en-US" sz="1400" dirty="0"/>
              <a:t>Reassure students: HCL is data-like and readable, much closer to YAML than to a programming language.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D06B7-5465-0CB6-11BB-CB1327B86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9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2C52-4291-6907-B551-0DF3CFB6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3F8DF-7D3E-C640-8680-04F44931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B7508-0235-5B83-E27E-16A1F9280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one: what Infrastructure as Code means and why Terraform leads the field.</a:t>
            </a:r>
          </a:p>
          <a:p>
            <a:r>
              <a:rPr lang="en-US" sz="1400" dirty="0"/>
              <a:t>Set the mindset - infrastructure becomes text files you version, review, and reuse.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4ACF0-257E-42FA-2B05-BB5B17E2A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Infrastructure as Code applies software practices to infrastructure: version control, review, and repeatability.</a:t>
            </a:r>
          </a:p>
          <a:p>
            <a:r>
              <a:rPr lang="en-US" sz="1400" dirty="0"/>
              <a:t>Contrast it with clicking through the AWS console - that is fast once, but not repeatable, reviewable, or documented.</a:t>
            </a:r>
          </a:p>
          <a:p>
            <a:r>
              <a:rPr lang="en-US" sz="1400" dirty="0"/>
              <a:t>Connect it to the whole course: IaC is the umbrella idea, and Terraform is how we do it for cloud networks.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B5A7-DC35-4426-7F22-C5955626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1DD22-861A-A544-93F5-AAA1D68D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7B0E-DCC2-E4FE-A21F-F97C4AD0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Terraform's appeal is that it is declarative and multi-cloud - the same tool and workflow across providers.</a:t>
            </a:r>
          </a:p>
          <a:p>
            <a:r>
              <a:rPr lang="en-US" sz="1400" dirty="0"/>
              <a:t>The plan step is a standout feature: you see exactly what will change before anything happens.</a:t>
            </a:r>
          </a:p>
          <a:p>
            <a:r>
              <a:rPr lang="en-US" sz="1400" dirty="0"/>
              <a:t>Its provider ecosystem means almost any service can be managed as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EE2C5-AF34-FB91-AE5F-654051B2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2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951E-8DFE-8A8F-80E6-D445A4AB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22521-2304-976D-A692-10F0DACD5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09C5-F7F8-A287-C9A7-59E21645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is the key distinction of the day. Terraform stands infrastructure up and tears it down; Ansible configures what already exists.</a:t>
            </a:r>
          </a:p>
          <a:p>
            <a:r>
              <a:rPr lang="en-US" sz="1400" dirty="0"/>
              <a:t>Terraform keeps a state file to know what it manages; Ansible just enforces desired state each run.</a:t>
            </a:r>
          </a:p>
          <a:p>
            <a:r>
              <a:rPr lang="en-US" sz="1400" dirty="0"/>
              <a:t>The common pipeline: Terraform provisions the VPC and instances, then hands off to Ansible to configure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844A-409D-7F5B-6A8E-B8DA35FDA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7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5D91-8058-E4F9-52E4-C512D4CB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9BB76-926E-37F7-D312-2908E0746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A32A9-EA34-8CFA-EC2A-DBE7459A7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Providers are how Terraform talks to a platform - the aws provider knows how to create VPCs, subnets, and security groups.</a:t>
            </a:r>
          </a:p>
          <a:p>
            <a:r>
              <a:rPr lang="en-US" sz="1400" dirty="0"/>
              <a:t>The Registry is the catalog, similar to Ansible Galaxy or PyPI.</a:t>
            </a:r>
          </a:p>
          <a:p>
            <a:r>
              <a:rPr lang="en-US" sz="1400" dirty="0"/>
              <a:t>You declare which providers you need, and init fetches them - no manual installation of plugins.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DC521-916B-23F0-8157-ACDD0EF8A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65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9B01-70F7-2332-3473-B8DFC4CE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DB797-8C78-BF22-0974-AE92BDED2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28F2-1A25-3C72-AC61-FBD069B5C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State is the concept that trips up newcomers, so give it attention. It is Terraform's memory of what exists.</a:t>
            </a:r>
          </a:p>
          <a:p>
            <a:r>
              <a:rPr lang="en-US" sz="1400" dirty="0"/>
              <a:t>Without state, Terraform could not tell the difference between creating new resources and updating existing ones.</a:t>
            </a:r>
          </a:p>
          <a:p>
            <a:r>
              <a:rPr lang="en-US" sz="1400" dirty="0"/>
              <a:t>Warn clearly: never hand-edit state, and treat it as sensitive - it can hold secrets. Later we cover remote state for teams.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35E17-2551-200C-452E-67A1C87F2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2BBF-8E02-1517-573B-0A92040F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E7427-81C4-2ED9-88B1-D40034548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9AEE-076C-841E-6774-0016C2CE0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Installation is trivial - one binary on the PATH.</a:t>
            </a:r>
          </a:p>
          <a:p>
            <a:r>
              <a:rPr lang="en-US" sz="1400" dirty="0"/>
              <a:t>The real setup is credentials: the aws provider needs permission to create resources, ideally via an IAM role on the control node.</a:t>
            </a:r>
          </a:p>
          <a:p>
            <a:r>
              <a:rPr lang="en-US" sz="1400" dirty="0"/>
              <a:t>Stress security: never put AWS keys directly in your .tf files, which get committed to Git.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2390A-D487-1A75-E98D-C979E9C74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2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F01D-7402-4E05-08BB-CE0D9C58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3E044-20E4-D293-1F28-2E22A4DC6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8ED53-78F0-45CF-4E99-EEE118DD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core Terraform concepts.</a:t>
            </a:r>
          </a:p>
          <a:p>
            <a:r>
              <a:rPr lang="en-US" sz="1400" dirty="0"/>
              <a:t>Prompt: what is Terraform's memory of existing resources?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21877-C3F1-4062-5E91-2995C4660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99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A6E-F0C5-D46B-1BE9-F29C643E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BC31A-C0CD-4F81-F78C-801E00FCA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7B2EE-9A0B-0E26-D718-1BF237A7B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the state. Terraform compares your desired config against state to decide what to change.</a:t>
            </a:r>
          </a:p>
          <a:p>
            <a:r>
              <a:rPr lang="en-US" sz="1400" dirty="0"/>
              <a:t>The plan is the preview of changes; the state is the record of what already exists.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A284-A48E-F168-B72D-615329603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88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F062-7315-7F36-4098-3DF38E0F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19D3A-C456-F006-E696-6911D0263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85A98-B218-E7EF-32AA-7A1218F0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two: HCL is the language you write Terraform in.</a:t>
            </a:r>
          </a:p>
          <a:p>
            <a:r>
              <a:rPr lang="en-US" sz="1400" dirty="0"/>
              <a:t>It is declarative and readable - if you handled YAML on Day 1, this will feel familiar.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C920-7DAC-E71A-86EA-47A96588D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3114-BB57-B7CC-A1E8-EC1D0681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D9E0-C1A9-40B2-34E0-14C9F29C8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5472E-20A5-91DB-775D-4FAF97C6F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Introduce the shape of HCL: blocks with braces, arguments as key = value.</a:t>
            </a:r>
          </a:p>
          <a:p>
            <a:r>
              <a:rPr lang="en-US" sz="1400" dirty="0"/>
              <a:t>Everything in Terraform - providers, resources, variables - is a block, so this pattern repeats everywhere.</a:t>
            </a:r>
          </a:p>
          <a:p>
            <a:r>
              <a:rPr lang="en-US" sz="1400" dirty="0"/>
              <a:t>Point out how readable it is; it describes what you want, not step-by-step instructions.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B942E-0CA3-31B0-D3C2-E254550B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5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65F0-4BF6-885D-D524-684A9BCC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906B2-FF92-7590-D05B-D4AEE25A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D92B7-79C1-B043-F97B-E77E4428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Resources are the most important block - each one is a thing Terraform will create and manage.</a:t>
            </a:r>
          </a:p>
          <a:p>
            <a:r>
              <a:rPr lang="en-US" sz="1400" dirty="0"/>
              <a:t>The two labels matter: the first is the resource type from the provider, the second is a local name you choose to reference it.</a:t>
            </a:r>
          </a:p>
          <a:p>
            <a:r>
              <a:rPr lang="en-US" sz="1400" dirty="0"/>
              <a:t>Almost all of today's work is writing resource blocks for the AWS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43EF2-2727-B18D-131A-9408DF9FF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01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3460-8326-86F1-8117-FA00B9D7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53A77-468F-9D5C-E347-A5CFE2B6F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2E5A-F3B5-A1FD-42BD-0615CA07A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Input variables parameterize a configuration so the same code builds dev, test, or prod.</a:t>
            </a:r>
          </a:p>
          <a:p>
            <a:r>
              <a:rPr lang="en-US" sz="1400" dirty="0"/>
              <a:t>Define a variable block, then reference it as var.name wherever you need the value.</a:t>
            </a:r>
          </a:p>
          <a:p>
            <a:r>
              <a:rPr lang="en-US" sz="1400" dirty="0"/>
              <a:t>This mirrors the variables lesson from Day 2 - separate data from logic.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D380E-93E6-9DF5-DFC0-6D45DFB22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3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8D78-3F33-0591-3407-B5C7B222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F8365-F569-E745-944F-2E48D36A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7CF5B-AF18-7751-916C-765CA67F0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tfvars files are where the actual values live, keeping the .tf code generic.</a:t>
            </a:r>
          </a:p>
          <a:p>
            <a:r>
              <a:rPr lang="en-US" sz="1400" dirty="0"/>
              <a:t>terraform.tfvars loads by default; you can point at others for different environments.</a:t>
            </a:r>
          </a:p>
          <a:p>
            <a:r>
              <a:rPr lang="en-US" sz="1400" dirty="0"/>
              <a:t>Same warning as always - secrets do not belong in a committed file.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81AF-1842-4F55-7378-E55A8737E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4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E699-4753-D8D0-9A99-7CB2FDDB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CBA30-981E-E9DC-726F-F6A76A969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2C651-BDB0-CA2D-46E3-37A8DCE4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Outputs are how a Terraform run reports useful values back to you - the IDs and addresses of what it built.</a:t>
            </a:r>
          </a:p>
          <a:p>
            <a:r>
              <a:rPr lang="en-US" sz="1400" dirty="0"/>
              <a:t>They are essential for handoff: an output VPC ID can feed an Ansible inventory or another Terraform module.</a:t>
            </a:r>
          </a:p>
          <a:p>
            <a:r>
              <a:rPr lang="en-US" sz="1400" dirty="0"/>
              <a:t>terraform output re-displays them without re-running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D6773-8BBB-A77A-840B-924B3377A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0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Locals are convenience values - compute something once, reuse it by name.</a:t>
            </a:r>
          </a:p>
          <a:p>
            <a:r>
              <a:rPr lang="en-US" sz="1400" dirty="0"/>
              <a:t>Expressions let you build values dynamically, like a consistent naming prefix across every resource.</a:t>
            </a:r>
          </a:p>
          <a:p>
            <a:r>
              <a:rPr lang="en-US" sz="1400" dirty="0"/>
              <a:t>Interpolation with the dollar-brace syntax inserts a value into a string, just like Python f-strings.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is the magic that makes Terraform easy: you reference one resource from another, and Terraform figures out the order.</a:t>
            </a:r>
          </a:p>
          <a:p>
            <a:r>
              <a:rPr lang="en-US" sz="1400" dirty="0"/>
              <a:t>A subnet that references its VPC's id will always be created after the VPC - you never manage ordering by hand.</a:t>
            </a:r>
          </a:p>
          <a:p>
            <a:r>
              <a:rPr lang="en-US" sz="1400" dirty="0"/>
              <a:t>This implicit dependency graph is a core reason Terraform is reliable.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0376-1611-7B57-5194-31E2DC2A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C2003-B75D-FA30-5DA8-A230B0E3D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EA89F-7850-A14E-0B45-073713D5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HCL blocks.</a:t>
            </a:r>
          </a:p>
          <a:p>
            <a:r>
              <a:rPr lang="en-US" sz="1400" dirty="0"/>
              <a:t>Prompt: which block actually creates something?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E834B-758F-335D-4FDA-40D93149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59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DF96-35D3-054B-FAD0-B1C72F59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A41F4-9134-A6E2-7985-0AB2F0FF9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D5693-14FB-75DC-3977-97923C06B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resource. Each resource block declares one piece of infrastructure Terraform manages.</a:t>
            </a:r>
          </a:p>
          <a:p>
            <a:r>
              <a:rPr lang="en-US" sz="1400" dirty="0"/>
              <a:t>variable and output pass data in and out; provider configures the platform plugin.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2192C-CF92-4C34-5E55-FBD1DCBDE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10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5BAE-208F-DBB5-B6B6-14BB4937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54B6B-B3C1-3313-B25A-F115AF39A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16C90-D07C-7F05-7E75-553C70CC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three: the everyday cycle of commands you run.</a:t>
            </a:r>
          </a:p>
          <a:p>
            <a:r>
              <a:rPr lang="en-US" sz="1400" dirty="0"/>
              <a:t>The workflow is short and always the same - init, plan, apply, and eventually destroy.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284E9-7908-B32D-CB2E-C5C14DF18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79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init is the setup step - it reads your config, downloads providers, and prepares the directory.</a:t>
            </a:r>
          </a:p>
          <a:p>
            <a:r>
              <a:rPr lang="en-US" sz="1400" dirty="0"/>
              <a:t>You run it when you first clone a project or whenever you add a new provider or module.</a:t>
            </a:r>
          </a:p>
          <a:p>
            <a:r>
              <a:rPr lang="en-US" sz="1400" dirty="0"/>
              <a:t>It is idempotent and safe to re-run.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plan is Terraform's killer feature and the habit to build - never apply blind.</a:t>
            </a:r>
          </a:p>
          <a:p>
            <a:r>
              <a:rPr lang="en-US" sz="1400" dirty="0"/>
              <a:t>It diffs your desired config against state and shows adds, changes, and destroys with plus and minus symbols.</a:t>
            </a:r>
          </a:p>
          <a:p>
            <a:r>
              <a:rPr lang="en-US" sz="1400" dirty="0"/>
              <a:t>Reviewing the plan is the cloud equivalent of Ansible's check and diff modes.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apply is where real infrastructure gets created. It re-shows the plan and waits for your yes.</a:t>
            </a:r>
          </a:p>
          <a:p>
            <a:r>
              <a:rPr lang="en-US" sz="1400" dirty="0"/>
              <a:t>As it works, it records everything in state so future runs know what exists.</a:t>
            </a:r>
          </a:p>
          <a:p>
            <a:r>
              <a:rPr lang="en-US" sz="1400" dirty="0"/>
              <a:t>Remind students these are billable AWS resources - apply thoughtfully.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destroy is the counterpart to apply - it removes what Terraform created, in the right order.</a:t>
            </a:r>
          </a:p>
          <a:p>
            <a:r>
              <a:rPr lang="en-US" sz="1400" dirty="0"/>
              <a:t>This is a huge advantage for lab and test environments: one command cleans up everything.</a:t>
            </a:r>
          </a:p>
          <a:p>
            <a:r>
              <a:rPr lang="en-US" sz="1400" dirty="0"/>
              <a:t>For a cost-controlled course, destroy is how students avoid leaving resources running.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Teach students to read the plan symbols fluently: plus creates, minus destroys, tilde updates.</a:t>
            </a:r>
          </a:p>
          <a:p>
            <a:r>
              <a:rPr lang="en-US" sz="1400" dirty="0"/>
              <a:t>The summary line - so many to add, change, destroy - is the quick health check before typing yes.</a:t>
            </a:r>
          </a:p>
          <a:p>
            <a:r>
              <a:rPr lang="en-US" sz="1400" dirty="0"/>
              <a:t>Unexpected destroys are the red flag to stop and investigate.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AD0B-1336-AE6E-99B8-BDF8416E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8E85-459E-FDCC-ECF8-BC710C010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76983-F4BE-AFF8-B853-EDB74D6F4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the workflow.</a:t>
            </a:r>
          </a:p>
          <a:p>
            <a:r>
              <a:rPr lang="en-US" sz="1400" dirty="0"/>
              <a:t>Prompt: which step is the safe preview?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CEC4F-D8B8-C2E3-EE5B-E8E999CE2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47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D60B-BB41-9B8F-A33C-14F2DE5F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99663-65F9-B69A-6AE4-F4F641FB3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51A35-3297-B614-13D7-21BAF894D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terraform plan. It shows what would change and modifies nothing.</a:t>
            </a:r>
          </a:p>
          <a:p>
            <a:r>
              <a:rPr lang="en-US" sz="1400" dirty="0"/>
              <a:t>init sets up the directory, apply makes the changes, destroy removes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DE6A4-E5A7-0F47-53DC-2C33FC6C2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47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four: the core of the day - writing the AWS network as Terraform resources.</a:t>
            </a:r>
          </a:p>
          <a:p>
            <a:r>
              <a:rPr lang="en-US" sz="1400" dirty="0"/>
              <a:t>This rebuilds the same lab network you clicked together in Day 1, now as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provider block configures the connection to AWS - mainly the region.</a:t>
            </a:r>
          </a:p>
          <a:p>
            <a:r>
              <a:rPr lang="en-US" sz="1400" dirty="0"/>
              <a:t>Keep credentials out of the block; rely on an IAM role or environment variables.</a:t>
            </a:r>
          </a:p>
          <a:p>
            <a:r>
              <a:rPr lang="en-US" sz="1400" dirty="0"/>
              <a:t>Pinning the version avoids surprise changes when a new provider release lands.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VPC is the foundation - the private network everything else attaches to.</a:t>
            </a:r>
          </a:p>
          <a:p>
            <a:r>
              <a:rPr lang="en-US" sz="1400" dirty="0"/>
              <a:t>The cidr_block is the address range; match the 10.0.1.0/24 from the Day 1 lab.</a:t>
            </a:r>
          </a:p>
          <a:p>
            <a:r>
              <a:rPr lang="en-US" sz="1400" dirty="0"/>
              <a:t>Good tagging from the start makes resources findable in the console.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Subnets divide the VPC into usable segments, each in one availability zone.</a:t>
            </a:r>
          </a:p>
          <a:p>
            <a:r>
              <a:rPr lang="en-US" sz="1400" dirty="0"/>
              <a:t>The subnet references the VPC id - that reference is what places it inside the VPC and sets creation order.</a:t>
            </a:r>
          </a:p>
          <a:p>
            <a:r>
              <a:rPr lang="en-US" sz="1400" dirty="0"/>
              <a:t>map_public_ip_on_launch makes instances in the subnet reachable, matching the Day 1 setup.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internet gateway is the door to the internet; the route table decides who uses it.</a:t>
            </a:r>
          </a:p>
          <a:p>
            <a:r>
              <a:rPr lang="en-US" sz="1400" dirty="0"/>
              <a:t>The pattern: create the gateway, attach it to the VPC, then add a 0.0.0.0/0 route pointing at it.</a:t>
            </a:r>
          </a:p>
          <a:p>
            <a:r>
              <a:rPr lang="en-US" sz="1400" dirty="0"/>
              <a:t>This is exactly the manual Day 1 step, now expressed as three linked resources.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Creating a route table is not enough; it must be associated with a subnet to take effect.</a:t>
            </a:r>
          </a:p>
          <a:p>
            <a:r>
              <a:rPr lang="en-US" sz="1400" dirty="0"/>
              <a:t>The association resource links a subnet to a route table by their ids.</a:t>
            </a:r>
          </a:p>
          <a:p>
            <a:r>
              <a:rPr lang="en-US" sz="1400" dirty="0"/>
              <a:t>Call out that a missing association is a classic gotcha - the route exists but nothing uses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Tagging is not optional in real accounts - it drives cost tracking, automation, and cleanup.</a:t>
            </a:r>
          </a:p>
          <a:p>
            <a:r>
              <a:rPr lang="en-US" sz="1400" dirty="0"/>
              <a:t>A consistent naming scheme, built from a variable prefix, keeps a growing project navigable.</a:t>
            </a:r>
          </a:p>
          <a:p>
            <a:r>
              <a:rPr lang="en-US" sz="1400" dirty="0"/>
              <a:t>The provider's default_tags feature stamps the same tags on everything automatically.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five: security groups are the firewall around your resources.</a:t>
            </a:r>
          </a:p>
          <a:p>
            <a:r>
              <a:rPr lang="en-US" sz="1400" dirty="0"/>
              <a:t>This is the other half of the Day 1 lab - the rules that let SSH, NETCONF, and RESTCONF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 security group is a stateful, allow-only firewall wrapped around a resource.</a:t>
            </a:r>
          </a:p>
          <a:p>
            <a:r>
              <a:rPr lang="en-US" sz="1400" dirty="0"/>
              <a:t>Stateful means you only write the inbound rule; the reply is permitted automatically - unlike a stateless NACL.</a:t>
            </a:r>
          </a:p>
          <a:p>
            <a:r>
              <a:rPr lang="en-US" sz="1400" dirty="0"/>
              <a:t>This is the control that opened SSH, NETCONF, and RESTCONF in the Day 1 lab.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Ingress is traffic coming in; egress is traffic going out. Learn the direction clearly.</a:t>
            </a:r>
          </a:p>
          <a:p>
            <a:r>
              <a:rPr lang="en-US" sz="1400" dirty="0"/>
              <a:t>Each rule names a protocol, a port or range, and where the traffic may come from or go to.</a:t>
            </a:r>
          </a:p>
          <a:p>
            <a:r>
              <a:rPr lang="en-US" sz="1400" dirty="0"/>
              <a:t>Referencing another security group as a source is a powerful pattern for internal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Show how the Day 1 security group becomes a Terraform resource with ingress blocks.</a:t>
            </a:r>
          </a:p>
          <a:p>
            <a:r>
              <a:rPr lang="en-US" sz="1400" dirty="0"/>
              <a:t>Each ingress block is one rule - port 22 for SSH, 443 for RESTCONF, 830 for NETCONF, matching Lab 1.</a:t>
            </a:r>
          </a:p>
          <a:p>
            <a:r>
              <a:rPr lang="en-US" sz="1400" dirty="0"/>
              <a:t>This is a satisfying moment: the table of rules from Day 1 becomes a few lines of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 security group must be attached to a resource to do anything.</a:t>
            </a:r>
          </a:p>
          <a:p>
            <a:r>
              <a:rPr lang="en-US" sz="1400" dirty="0"/>
              <a:t>Instances take a list of group ids, so you can layer several groups on one resource.</a:t>
            </a:r>
          </a:p>
          <a:p>
            <a:r>
              <a:rPr lang="en-US" sz="1400" dirty="0"/>
              <a:t>Reinforce: an unattached security group is just an unused definition.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security groups.</a:t>
            </a:r>
          </a:p>
          <a:p>
            <a:r>
              <a:rPr lang="en-US" sz="1400" dirty="0"/>
              <a:t>Prompt: inbound traffic uses which rule type?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ingress. Ingress rules govern inbound traffic; egress governs outbound.</a:t>
            </a:r>
          </a:p>
          <a:p>
            <a:r>
              <a:rPr lang="en-US" sz="1400" dirty="0"/>
              <a:t>Routes direct traffic between networks, and a NACL is a separate, stateless subnet-level control.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six: the features that turn a working config into a reusable, shareable one.</a:t>
            </a:r>
          </a:p>
          <a:p>
            <a:r>
              <a:rPr lang="en-US" sz="1400" dirty="0"/>
              <a:t>This is where Terraform projects grow up, much like roles did for Ansible.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Parameterizing is the same lesson as Day 2 roles - separate the values from the structure.</a:t>
            </a:r>
          </a:p>
          <a:p>
            <a:r>
              <a:rPr lang="en-US" sz="1400" dirty="0"/>
              <a:t>A well-parameterized config builds dev and prod from the same code with different tfvars.</a:t>
            </a:r>
          </a:p>
          <a:p>
            <a:r>
              <a:rPr lang="en-US" sz="1400" dirty="0"/>
              <a:t>Good defaults keep the config runnable out of the box.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Outputs are the handoff mechanism between the provisioning and configuration layers.</a:t>
            </a:r>
          </a:p>
          <a:p>
            <a:r>
              <a:rPr lang="en-US" sz="1400" dirty="0"/>
              <a:t>A Terraform-built VPC and subnet ids can feed straight into an Ansible inventory or a second Terraform project.</a:t>
            </a:r>
          </a:p>
          <a:p>
            <a:r>
              <a:rPr lang="en-US" sz="1400" dirty="0"/>
              <a:t>This is how the whole course connects - Terraform builds, then Ansible or Python configures.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Modules are to Terraform what roles are to Ansible - packaged, reusable, parameterized building blocks.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1400" dirty="0"/>
              <a:t>A network module might create a </a:t>
            </a:r>
            <a:r>
              <a:rPr lang="en-US" sz="1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module is a reusable package of Terraform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1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Group related resources behind a clean interface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1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Call a module with input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1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Reuse the same module across projects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1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Terraform equivalent of an Ansible role</a:t>
            </a:r>
          </a:p>
          <a:p>
            <a:r>
              <a:rPr lang="en-US" sz="1400" dirty="0"/>
              <a:t>VPC, subnets, and routing behind a few inputs.</a:t>
            </a:r>
          </a:p>
          <a:p>
            <a:r>
              <a:rPr lang="en-US" sz="1400" dirty="0"/>
              <a:t>This keeps top-level configurations short and consistent.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Calling a module is like calling a role: point at its source and pass inputs.</a:t>
            </a:r>
          </a:p>
          <a:p>
            <a:r>
              <a:rPr lang="en-US" sz="1400" dirty="0"/>
              <a:t>The Registry hosts battle-tested modules - the aws vpc module is a common example.</a:t>
            </a:r>
          </a:p>
          <a:p>
            <a:r>
              <a:rPr lang="en-US" sz="1400" dirty="0"/>
              <a:t>Always review a module before trusting it, just as with roles.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Local state is fine solo but breaks the moment two people share a project.</a:t>
            </a:r>
          </a:p>
          <a:p>
            <a:r>
              <a:rPr lang="en-US" sz="1400" dirty="0"/>
              <a:t>A remote backend like S3 gives everyone one shared state, with locking to prevent conflicting applies.</a:t>
            </a:r>
          </a:p>
          <a:p>
            <a:r>
              <a:rPr lang="en-US" sz="1400" dirty="0"/>
              <a:t>Because state can hold secrets, the remote store must be private and encrypted.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seven: three labs that build the lab network itself with Terraform.</a:t>
            </a:r>
          </a:p>
          <a:p>
            <a:r>
              <a:rPr lang="en-US" sz="1400" dirty="0"/>
              <a:t>Cover setup and the all-important destroy step so nothing is left running.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Logistics slide. Today you create infrastructure rather than configure devices, so cost discipline shifts to terraform destroy.</a:t>
            </a:r>
          </a:p>
          <a:p>
            <a:r>
              <a:rPr lang="en-US" sz="1400" dirty="0"/>
              <a:t>Using an IAM role on the control node keeps AWS credentials out of your .tf files entirely.</a:t>
            </a:r>
          </a:p>
          <a:p>
            <a:r>
              <a:rPr lang="en-US" sz="1400" dirty="0"/>
              <a:t>Emphasize the destroy habit - it is the clean, complete way to avoid surprise charges.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10 is the hands-on introduction - the smallest useful Terraform config that builds real infrastructure.</a:t>
            </a:r>
          </a:p>
          <a:p>
            <a:r>
              <a:rPr lang="en-US" sz="1400" dirty="0"/>
              <a:t>The key learning moment is the init-plan-apply cycle and seeing the plan before saying yes.</a:t>
            </a:r>
          </a:p>
          <a:p>
            <a:r>
              <a:rPr lang="en-US" sz="1400" dirty="0"/>
              <a:t>Common snag: AWS credentials or region not configured, which shows up at plan time.</a:t>
            </a:r>
          </a:p>
          <a:p>
            <a:r>
              <a:rPr lang="en-US" sz="1400" dirty="0"/>
              <a:t>Students should read the plan output carefully and match it to what appears in the console.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11 completes the network - the routing and firewall that make the subnet usable.</a:t>
            </a:r>
          </a:p>
          <a:p>
            <a:r>
              <a:rPr lang="en-US" sz="1400" dirty="0"/>
              <a:t>This directly recreates the manual Day 1 steps as code: gateway, route, association, security group.</a:t>
            </a:r>
          </a:p>
          <a:p>
            <a:r>
              <a:rPr lang="en-US" sz="1400" dirty="0"/>
              <a:t>Highlight the association step, the classic thing to forget.</a:t>
            </a:r>
          </a:p>
          <a:p>
            <a:r>
              <a:rPr lang="en-US" sz="1400" dirty="0"/>
              <a:t>By the end they have rebuilt the entire Day 1 lab network from Terraform.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12 turns the working config into a reusable one and then cleans up.</a:t>
            </a:r>
          </a:p>
          <a:p>
            <a:r>
              <a:rPr lang="en-US" sz="1400" dirty="0"/>
              <a:t>Parameterizing and adding outputs is the professional finish - the config now builds any environment and reports its ids.</a:t>
            </a:r>
          </a:p>
          <a:p>
            <a:r>
              <a:rPr lang="en-US" sz="1400" dirty="0"/>
              <a:t>The final destroy is essential: it removes every resource and confirms nothing is left billing.</a:t>
            </a:r>
          </a:p>
          <a:p>
            <a:r>
              <a:rPr lang="en-US" sz="1400" dirty="0"/>
              <a:t>Have them watch the destroy plan to see the resources removed in dependency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cleanup.</a:t>
            </a:r>
          </a:p>
          <a:p>
            <a:r>
              <a:rPr lang="en-US" sz="1400" dirty="0"/>
              <a:t>Prompt: which is the real Terraform command to remove infrastructure?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terraform destroy. It removes all managed resources in the correct order.</a:t>
            </a:r>
          </a:p>
          <a:p>
            <a:r>
              <a:rPr lang="en-US" sz="1400" dirty="0"/>
              <a:t>The other three are not real Terraform commands - destroy is the counterpart to apply.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Tie the day together: Terraform builds the network as code, the layer beneath everything we did in Days 1 to 3.</a:t>
            </a:r>
          </a:p>
          <a:p>
            <a:r>
              <a:rPr lang="en-US" sz="1400" dirty="0"/>
              <a:t>Check understanding - ask when they would use Terraform versus Ansible, or what state is for.</a:t>
            </a:r>
          </a:p>
          <a:p>
            <a:r>
              <a:rPr lang="en-US" sz="1400" dirty="0"/>
              <a:t>Preview Day 5: we return to device automation on Arista EOS, managed at scale through CloudVision.</a:t>
            </a:r>
          </a:p>
          <a:p>
            <a:r>
              <a:rPr lang="en-US" sz="1400" dirty="0"/>
              <a:t>Final reminder: run terraform destroy so no lab resources keep billing.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F7DB-31D1-A897-A85C-9D91DB6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48115-791F-14C4-4B89-B2326F0C7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19C78-F6CD-E2F6-B10E-7B5C1C2F2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Point students to the official docs and the Registry for going deeper.</a:t>
            </a:r>
          </a:p>
          <a:p>
            <a:r>
              <a:rPr lang="en-US" sz="1400" dirty="0"/>
              <a:t>The best exercise is building and destroying the lab network a few times until the workflow is second nature.</a:t>
            </a:r>
          </a:p>
          <a:p>
            <a:r>
              <a:rPr lang="en-US" sz="1400" dirty="0"/>
              <a:t>Set up Day 5: a return to device-level automation, this time on Arista with CloudVision at the center.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D6A01-7FAD-3684-E130-BF3E2D47C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6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9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4672-C582-6331-2735-177B704D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E7E4C-4357-59C7-6D2B-68C2BE69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2CA29-9EAF-27A8-CE45-33AB680F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D78A4-37DB-0CE7-3438-963BC2F2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68B64C-4C01-CCB3-9D6C-A67B39D5F264}"/>
              </a:ext>
            </a:extLst>
          </p:cNvPr>
          <p:cNvCxnSpPr>
            <a:cxnSpLocks/>
          </p:cNvCxnSpPr>
          <p:nvPr userDrawn="1"/>
        </p:nvCxnSpPr>
        <p:spPr>
          <a:xfrm>
            <a:off x="7150100" y="2108200"/>
            <a:ext cx="0" cy="37846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21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8013405" cy="72978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302" y="6574155"/>
            <a:ext cx="4572000" cy="28384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2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04828" y="152718"/>
            <a:ext cx="6427971" cy="81484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6394027" y="1300130"/>
            <a:ext cx="4514978" cy="47226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331458"/>
            <a:ext cx="1049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LAB: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6822558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CA" sz="1050" b="1"/>
              <a:t>Practice makes perfect.</a:t>
            </a:r>
            <a:endParaRPr lang="en-US" sz="1050" b="1"/>
          </a:p>
        </p:txBody>
      </p:sp>
      <p:sp>
        <p:nvSpPr>
          <p:cNvPr id="9" name="Rectangle 8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774843" y="5050793"/>
            <a:ext cx="788399" cy="8366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3" r="22687"/>
          <a:stretch/>
        </p:blipFill>
        <p:spPr>
          <a:xfrm>
            <a:off x="2172782" y="1300130"/>
            <a:ext cx="4012234" cy="4722628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583496" y="5887647"/>
            <a:ext cx="1168536" cy="249539"/>
          </a:xfrm>
        </p:spPr>
        <p:txBody>
          <a:bodyPr>
            <a:noAutofit/>
          </a:bodyPr>
          <a:lstStyle>
            <a:lvl1pPr>
              <a:defRPr sz="1400">
                <a:solidFill>
                  <a:srgbClr val="FF0000"/>
                </a:solidFill>
                <a:latin typeface="Arial Black (Headings)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713" y="152718"/>
            <a:ext cx="1913061" cy="523220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/>
              <a:t>LABS AT THE BACK OF THE BOOK</a:t>
            </a:r>
          </a:p>
        </p:txBody>
      </p:sp>
    </p:spTree>
    <p:extLst>
      <p:ext uri="{BB962C8B-B14F-4D97-AF65-F5344CB8AC3E}">
        <p14:creationId xmlns:p14="http://schemas.microsoft.com/office/powerpoint/2010/main" val="29805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7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6567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67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217424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78688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949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254366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267200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1821843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7"/>
          </p:nvPr>
        </p:nvSpPr>
        <p:spPr>
          <a:xfrm>
            <a:off x="1834677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8"/>
          </p:nvPr>
        </p:nvSpPr>
        <p:spPr>
          <a:xfrm>
            <a:off x="9195864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9"/>
          </p:nvPr>
        </p:nvSpPr>
        <p:spPr>
          <a:xfrm>
            <a:off x="9208698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20"/>
          </p:nvPr>
        </p:nvSpPr>
        <p:spPr>
          <a:xfrm>
            <a:off x="6763341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1"/>
          </p:nvPr>
        </p:nvSpPr>
        <p:spPr>
          <a:xfrm>
            <a:off x="6776175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9709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8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7CF1EF6-33F6-4484-B873-110506412060}"/>
              </a:ext>
            </a:extLst>
          </p:cNvPr>
          <p:cNvSpPr/>
          <p:nvPr/>
        </p:nvSpPr>
        <p:spPr>
          <a:xfrm>
            <a:off x="10015040" y="4042913"/>
            <a:ext cx="1991430" cy="28208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47924" y="240889"/>
            <a:ext cx="7738364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 err="1"/>
              <a:t>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46067" y="5015134"/>
            <a:ext cx="1906548" cy="790130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938" y="1401845"/>
            <a:ext cx="10539125" cy="19980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© 2025 by Innovation In Software Corporation 
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226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POP QUIZ: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10572882" y="4681721"/>
            <a:ext cx="788399" cy="836668"/>
          </a:xfrm>
          <a:prstGeom prst="rect">
            <a:avLst/>
          </a:prstGeom>
        </p:spPr>
      </p:pic>
      <p:pic>
        <p:nvPicPr>
          <p:cNvPr id="16" name="Picture 15" descr="A group of people in a room  Description automatically generated">
            <a:extLst>
              <a:ext uri="{FF2B5EF4-FFF2-40B4-BE49-F238E27FC236}">
                <a16:creationId xmlns:a16="http://schemas.microsoft.com/office/drawing/2014/main" id="{093CB388-AB25-4294-97A6-9EB9568DD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618"/>
          <a:stretch/>
        </p:blipFill>
        <p:spPr>
          <a:xfrm>
            <a:off x="0" y="4037162"/>
            <a:ext cx="10029645" cy="28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6258" y="240889"/>
            <a:ext cx="6540030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511" y="5269246"/>
            <a:ext cx="3296044" cy="470196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3505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CONVERSATION: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555372" y="4791464"/>
            <a:ext cx="592054" cy="628302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1AFE448-9478-4921-9428-9E4F23B14C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0071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31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1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6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8057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0668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489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02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12928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>
                <a:solidFill>
                  <a:srgbClr val="FFFF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0" y="0"/>
            <a:ext cx="2648049" cy="174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9846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5003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5681" y="87414"/>
            <a:ext cx="7762858" cy="940441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rgbClr val="33CC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1713655"/>
            <a:ext cx="4480560" cy="4458545"/>
          </a:xfrm>
        </p:spPr>
        <p:txBody>
          <a:bodyPr/>
          <a:lstStyle>
            <a:lvl1pPr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 sz="1400"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85000"/>
                  </a:schemeClr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1713655"/>
            <a:ext cx="4480560" cy="4458545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8440" y="6385465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4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0146" y="158723"/>
            <a:ext cx="1093170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7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4445552"/>
            <a:ext cx="9144000" cy="1345648"/>
          </a:xfrm>
          <a:prstGeom prst="rect">
            <a:avLst/>
          </a:prstGeom>
        </p:spPr>
        <p:txBody>
          <a:bodyPr lIns="18288" tIns="18288" rIns="18288" bIns="18288" anchor="b">
            <a:norm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lang="en-US" sz="3200" b="1" dirty="0" smtClean="0">
                <a:solidFill>
                  <a:schemeClr val="accent2"/>
                </a:solidFill>
                <a:effectLst/>
                <a:latin typeface="+mj-lt"/>
                <a:ea typeface="+mj-ea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5791200"/>
            <a:ext cx="9144000" cy="838200"/>
          </a:xfrm>
          <a:prstGeom prst="rect">
            <a:avLst/>
          </a:prstGeom>
        </p:spPr>
        <p:txBody>
          <a:bodyPr lIns="18288" tIns="18288" rIns="18288" bIns="18288">
            <a:normAutofit/>
          </a:bodyPr>
          <a:lstStyle>
            <a:lvl1pPr marL="0" indent="0" algn="l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C4170-713D-D94E-AB6C-265619E54E10}"/>
              </a:ext>
            </a:extLst>
          </p:cNvPr>
          <p:cNvSpPr/>
          <p:nvPr/>
        </p:nvSpPr>
        <p:spPr>
          <a:xfrm>
            <a:off x="11990440" y="2702460"/>
            <a:ext cx="218423" cy="4155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61EA2-9589-AE43-AAD1-CC4D320E0C2B}"/>
              </a:ext>
            </a:extLst>
          </p:cNvPr>
          <p:cNvSpPr/>
          <p:nvPr/>
        </p:nvSpPr>
        <p:spPr>
          <a:xfrm>
            <a:off x="11990440" y="1"/>
            <a:ext cx="218423" cy="2702856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9A9A0-292A-AA4D-B4EF-4FA2CF840E8C}"/>
              </a:ext>
            </a:extLst>
          </p:cNvPr>
          <p:cNvSpPr txBox="1">
            <a:spLocks/>
          </p:cNvSpPr>
          <p:nvPr/>
        </p:nvSpPr>
        <p:spPr>
          <a:xfrm rot="16200000">
            <a:off x="11469837" y="6720605"/>
            <a:ext cx="7642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9624C5-FDF6-4954-B8C3-64918F306FAA}" type="slidenum">
              <a:rPr lang="en-US" b="1" smtClean="0">
                <a:solidFill>
                  <a:srgbClr val="C00000"/>
                </a:solidFill>
              </a:rPr>
              <a:pPr/>
              <a:t>‹#›</a:t>
            </a:fld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" name="Footer Placeholder 12">
            <a:extLst>
              <a:ext uri="{FF2B5EF4-FFF2-40B4-BE49-F238E27FC236}">
                <a16:creationId xmlns:a16="http://schemas.microsoft.com/office/drawing/2014/main" id="{E39E059B-4447-E24C-B339-29B4256C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86" y="6456680"/>
            <a:ext cx="3849914" cy="401320"/>
          </a:xfrm>
        </p:spPr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5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112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4" r:id="rId2"/>
    <p:sldLayoutId id="2147483666" r:id="rId3"/>
    <p:sldLayoutId id="2147483676" r:id="rId4"/>
    <p:sldLayoutId id="2147483667" r:id="rId5"/>
    <p:sldLayoutId id="2147483668" r:id="rId6"/>
    <p:sldLayoutId id="2147483678" r:id="rId7"/>
    <p:sldLayoutId id="2147483679" r:id="rId8"/>
    <p:sldLayoutId id="2147483669" r:id="rId9"/>
    <p:sldLayoutId id="2147483677" r:id="rId10"/>
    <p:sldLayoutId id="2147483680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60" r:id="rId18"/>
    <p:sldLayoutId id="2147483661" r:id="rId19"/>
    <p:sldLayoutId id="2147483682" r:id="rId20"/>
    <p:sldLayoutId id="2147483683" r:id="rId2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2026 by Innovation In Software Corporation 
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IV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42EAD9-E740-F403-3D4A-4DE381C6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AFEC4-625D-FE3A-E420-D85597F9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19"/>
            <a:ext cx="12031684" cy="57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1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98CD-F09D-DE32-BB22-1B44A373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5009-1C65-0966-6C16-0198EA44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54DFB-F6D9-9E72-0D96-739012D8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2025 by Innovation In Software Corporation 
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BA6057FA-D0C1-12F8-AAEE-AA1FFB804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– Day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EF2DC-0B15-7344-761A-14E9CEEF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 descr="A group of women working on a computer">
            <a:extLst>
              <a:ext uri="{FF2B5EF4-FFF2-40B4-BE49-F238E27FC236}">
                <a16:creationId xmlns:a16="http://schemas.microsoft.com/office/drawing/2014/main" id="{5DB6D44F-5315-1880-EF87-C2D82C519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" r="-312" b="3245"/>
          <a:stretch>
            <a:fillRect/>
          </a:stretch>
        </p:blipFill>
        <p:spPr>
          <a:xfrm>
            <a:off x="0" y="0"/>
            <a:ext cx="12102599" cy="687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Day 3 Left Off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automated device SSH with Netmiko in Python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turned raw output into structured data with TextFSM and NAPALM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read and changed config over RESTCONF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All of it configured devices that already existed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Today: build the network itself with Terraform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6865" y="98052"/>
            <a:ext cx="80134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Agenda for 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416" y="844226"/>
            <a:ext cx="776765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Infrastructure as Code and Terraform basics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The HCL language - resources, variables, outputs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The Terraform workflow - init, plan, apply, destroy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Building AWS network resources - VPC and subnets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Security groups and connectivity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Variables, reuse, and three hands-on labs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C38007-1201-AF66-0E8B-413A7638FF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58"/>
          <a:stretch/>
        </p:blipFill>
        <p:spPr>
          <a:xfrm>
            <a:off x="7680840" y="952234"/>
            <a:ext cx="3922728" cy="4953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Infrastructure as Code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Infrastructure as Code?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Define infrastructure in text files, not by clicking consoles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Version it in Git alongside your other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Recreate identical environments on demand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Review changes before they happen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same discipline you applied to device config, for the cloud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Infrastructure as Code (IaC)">
            <a:extLst>
              <a:ext uri="{FF2B5EF4-FFF2-40B4-BE49-F238E27FC236}">
                <a16:creationId xmlns:a16="http://schemas.microsoft.com/office/drawing/2014/main" id="{D4D5C7E2-A213-9E38-1D2F-5263E437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2"/>
          <a:stretch>
            <a:fillRect/>
          </a:stretch>
        </p:blipFill>
        <p:spPr>
          <a:xfrm>
            <a:off x="7334263" y="2806867"/>
            <a:ext cx="4269305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Why Terraform?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Declarative - you describe the desired infrastructure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Cloud-agnostic - one tool for AWS, Azure, GCP, and more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Huge provider ecosystem via the Terraform Registry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Plans changes before applying them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de facto standard for infrastructure as code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3C371A-EACB-E7CB-36E8-E214CC6AE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696" y="2286167"/>
            <a:ext cx="35052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vs Ansible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- provisioning: create and destroy infrastructure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- configuration: set state on existing systems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tracks state; Ansible is stateless by default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Many teams use both - Terraform builds, Ansible configures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Right tool for the layer you are automating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AF12A-85A2-D2A4-761F-53D5FF47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0" y="2593188"/>
            <a:ext cx="43053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Providers and the Registry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provider is a plugin for one platform, like aws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Providers expose resources you can manage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Terraform Registry hosts official and community providers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Declare required providers in your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init downloads them for you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9EC32B-497F-5EE3-43CB-E0F233BD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354" y="2828278"/>
            <a:ext cx="8211246" cy="2420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State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State records what Terraform has created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Stored in terraform.tfstate by default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Lets Terraform plan the difference to your desired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Never edit the state file by hand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Protect it - it can contain sensitive values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06DDEF-A728-30D8-11AD-4757B3B6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308487"/>
            <a:ext cx="7366000" cy="2101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Installing Terraform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is a single binary - no runtime to install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Download it or use your package manager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with: terraform version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Configure AWS credentials for the provider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an IAM role or environment variables, never hard-coded keys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6537ED-9F6F-D082-F509-EB8CFA9B5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080" y="2907439"/>
            <a:ext cx="8368420" cy="2262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Terraform records what it has created in a file so it can plan future changes. What is this called?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The plan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The state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The manifest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The registry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Terraform records what it has created in a file so it can plan future changes. What is this called?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The plan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state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The manifest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The registry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HCL Language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HCL - Blocks and Arguments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HCL is built from blocks that contain arguments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block has a type, optional labels, and a body in braces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Arguments are name equals value pairs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Comments start with a hash or double slash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Files use the .tf extension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3268EF-4E5D-D44A-289F-0ECE3610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39631"/>
            <a:ext cx="8140700" cy="21679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Resources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resource block declares one piece of infrastructure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Syntax: resource type name then a body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Example: resource aws_vpc main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type comes from the provider; the name is yours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Resources are the heart of every Terraform configuration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DF6D18-29EA-C017-89FC-A8DD03F5D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485" y="3030041"/>
            <a:ext cx="8582915" cy="20174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Input Variables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variable blocks make a configuration reusable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Give each a type and an optional default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a variable with var dot name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 behavior without editing the main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Terraform equivalent of Ansible variables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0D3DC-F74F-F094-A745-B51266BC7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961722"/>
            <a:ext cx="8856525" cy="20817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Variable Files - tfvars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.tfvars file supplies values for your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terraform.tfvars is loaded automatically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environment-specific values out of the main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Pass a different file with -var-file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Never commit secrets in tfvars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2912B9-B144-C831-5E9D-C1BAD4DF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468" y="2943585"/>
            <a:ext cx="8309832" cy="21903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Outputs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output blocks expose values after apply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Print a VPC ID, subnet ID, or public IP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Feed outputs into other tools or modules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View them any time with terraform output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How Terraform hands information to the next step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C542BC-1ACF-9618-DA5A-37418012E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256" y="2905271"/>
            <a:ext cx="8600544" cy="22669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Locals and Expressions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locals define named values computed once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Reduce repetition and keep code readable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Expressions combine variables, functions, and references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names and tags dynamically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String interpolation uses dollar-brace syntax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8D2A-97A4-44EF-BC1A-10C551A3FEB1}" type="slidenum">
              <a:rPr lang="en-US" smtClean="0"/>
              <a:t>20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F89ED1-4665-E091-1F08-7D0BB774A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205" y="2971815"/>
            <a:ext cx="9268095" cy="18888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Referencing Resources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 to another resource's attributes by name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Form: type dot name dot attribute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Example: a subnet references aws_vpc main id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builds a dependency graph from these references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It creates resources in the correct order automatically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F180-C1A1-442D-A126-2CD47CEC8B51}" type="slidenum">
              <a:rPr lang="en-US" smtClean="0"/>
              <a:t>21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59652E-2393-17A1-E480-12232E65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655" y="2971815"/>
            <a:ext cx="8869678" cy="2084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Terraform block defines a piece of infrastructure to create, such as a VPC?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variable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output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resource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provider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Terraform block defines a piece of infrastructure to create, such as a VPC?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variable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output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resource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provider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Terraform Workflow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init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once when you start or add a provider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Downloads the providers your config declares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Sets up the working directory and backend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Creates the .terraform directory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Safe to re-run any time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DA7D-CB4A-4448-A140-FC22774B07C9}" type="slidenum">
              <a:rPr lang="en-US" smtClean="0"/>
              <a:t>25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D5D97B-9EB0-5DE5-77F5-CF093162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3109458"/>
            <a:ext cx="7772400" cy="18586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plan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Shows exactly what Terraform will do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Compares your config against the current state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Marks resources to add, change, or destroy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Changes nothing - it is a preview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Always review the plan before applying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A26D5-D7E7-46D0-B8AC-580A4564F7F0}" type="slidenum">
              <a:rPr lang="en-US" smtClean="0"/>
              <a:t>26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F5C22-F1BE-0C93-2C7E-58F2C0CA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831" y="2971815"/>
            <a:ext cx="8225769" cy="222408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apply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Executes the changes from the plan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Shows the plan again and asks for confirmation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Type yes to proceed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Updates the state file as it goes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with care - it creates real, billable resources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F87D3-A0AA-8B0A-1A00-5D29C69E9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335" y="2788924"/>
            <a:ext cx="9232665" cy="24963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terraform destroy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Tears down everything in the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Shows what will be destroyed and asks to confirm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clean way to remove a lab environment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Prevents forgotten resources running up costs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Target a subset with care if needed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AEC430-D31D-B716-52D7-C7A2E2592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834" y="2781299"/>
            <a:ext cx="9260866" cy="25039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Reading the Plan Output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plus sign means a resource will be created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minus sign means it will be destroyed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tilde means it will be changed in place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summary line counts add, change, and destroy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Read it carefully - especially any destroys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7CDD06-528A-C41A-D28C-1D34F5DA2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50" y="2897479"/>
            <a:ext cx="9230639" cy="22825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previews changes without applying them?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terraform init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terraform plan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terraform apply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terraform destroy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previews changes without applying them?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terraform init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plan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terraform apply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terraform destroy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Building the AWS Network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aws Provider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Declare the aws provider and a region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Configure credentials outside the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provider unlocks aws_ resource types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Pin a provider version for reproducibility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provider block serves the whole configuration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04CB5-77CE-AAEB-C4F9-5FC47F8F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716" y="2814542"/>
            <a:ext cx="9194184" cy="24484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Creating a VPC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resource aws_vpc defines your virtual network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Set the cidr_block, such as 10.0.1.0/24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 DNS support and hostnames if needed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 it with a clear Name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Every other network resource lives inside it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34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C2DA4-7674-5464-6C4B-3D26363F4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868769"/>
            <a:ext cx="8786927" cy="23399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Creating Subnets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resource aws_subnet carves an address range from the VPC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the VPC id so it lands inside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Set the subnet cidr_block and availability_zone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map_public_ip_on_launch for public subnets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 each subnet clearly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6DB805-88CA-88A5-FF3F-E476BCAD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2769043"/>
            <a:ext cx="8534400" cy="253944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Internet Gateway and Routing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aws_internet_gateway gives the VPC internet access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Attach it to the VPC by id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aws_route_table holds your routing rules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a default route to the internet gateway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Without a route, the subnet stays isolated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3509E-34CC-A79F-6E2D-99058042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128211"/>
            <a:ext cx="8733970" cy="382111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Route Table Associations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route table only applies once associated with a subnet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aws_route_table_association links the two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both the subnet id and route table id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Associate every subnet that needs the route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common step to forget - then traffic mysteriously fails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E5733C-E6C7-14E2-DE71-5512BE9C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196" y="3026505"/>
            <a:ext cx="8204704" cy="192855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Tags and Naming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Tags label resources for humans and billing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a consistent Name on every resource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names from variables with expressions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Consistent tags make cleanup and audits easy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default_tags can apply tags across the board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D53A0E-35F2-A670-7AAA-AD7AA6F4D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709" y="2758779"/>
            <a:ext cx="8603391" cy="255997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Security Groups and Connectivity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a Security Group?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stateful virtual firewall around a resource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Rules allow traffic; there is no explicit deny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Stateful - return traffic is allowed automatically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Attached to instances and other resources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main way you control access in a VPC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69DDAE-807D-160D-DACE-182700467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125290"/>
            <a:ext cx="6121400" cy="182976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Ingress and Egress Rules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Ingress rules control inbound traffic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Egress rules control outbound traffic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Each rule sets protocol, port range, and source or destination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Sources can be a CIDR or another security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Default egress often allows all outbound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B5174F-F46E-6EE4-342C-F61273E4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203045"/>
            <a:ext cx="9007276" cy="367144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Writing SG Rules in Terraform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resource aws_security_group defines the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ingress and egress blocks inside 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Set from_port, to_port, protocol, and cidr_blocks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Open 22 for SSH, 443 for RESTCONF, 830 for NETCONF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Mirror the exact rules from the Day 1 lab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42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2112C6-6404-46F9-4625-9AA4262E6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651" y="2535382"/>
            <a:ext cx="8544336" cy="30067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Attaching Security Groups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the group's id from an instance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vpc_security_group_ids takes a list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group can protect many resources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resource can carry several groups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group has no effect until it is attached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7DF111-A168-E1EA-70E2-5F6DCE6E8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63" y="2758779"/>
            <a:ext cx="8603391" cy="25599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In an AWS security group, which rule type controls traffic coming INTO a resource?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egress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ingress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a route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 NACL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B28A1-F532-4810-8899-82C91B6CED4C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In an AWS security group, which rule type controls traffic coming INTO a resource?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egress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ingress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a route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 NACL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F6AB-B395-4405-B034-BC36D0BC9981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Variables, Outputs, and Reuse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Parameterizing with Variables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Replace hard-coded values with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config builds many environments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Group related variables logically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Provide sensible defaults where you can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Supply the rest through a tfvars file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27335D-F918-4171-6587-84AB13C77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967" y="2903532"/>
            <a:ext cx="7772400" cy="22704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Outputs for Handoff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Expose the VPC, subnet, and security group ids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 those ids to Ansible or another tool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Outputs document what the config produced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Chain Terraform runs by consuming outputs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bridge from provisioning to configuration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C5BE8E-9A55-A02E-3F73-207926D57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545" y="2173551"/>
            <a:ext cx="9091383" cy="37304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Introducing Modules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module is a reusable package of Terraform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Group related resources behind a clean interface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Call a module with input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Reuse the same module across projects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Terraform equivalent of an Ansible role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1DA7F7-72C9-8074-249C-8BB2026E8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458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Using a Module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module block references a source and inputs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Sources can be local paths or the Registry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Pass variables as the module's inputs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Consume the module's outputs afterward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Prefer well-maintained community modules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EF5F7C-0123-2F1C-7F64-686EA4755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602" y="2882411"/>
            <a:ext cx="7772400" cy="231271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Remote State and Teams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Local state does not work for a team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Store state remotely, such as in an S3 backend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Locking prevents two people applying at once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Everyone shares one source of truth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remote state private and encrypted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ED5F25-0387-2E26-1479-CFCE154C0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091" y="2771528"/>
            <a:ext cx="7772400" cy="253447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Day 4 Labs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Environment and Setup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Work from the control node with Terraform installed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an IAM role so no keys live in your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in a fresh directory, separate from earlier labs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will create real, billable AWS resources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Always run terraform destroy when you finish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10: Build a VPC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Create a VPC and a subnet with Terraform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Write a provider block for aws in a new directory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an aws_vpc resource with a 10.0.1.0/24 CIDR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an aws_subnet that references the VPC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terraform init, then plan, then apply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the VPC and subnet in the AWS console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11: Routing and Security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Add internet access and a security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an aws_internet_gateway attached to the VPC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 a route table with a default route to 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Associate the route table with your subnet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a security group allowing SSH, RESTCONF, NETCONF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Apply and verify the routing and rules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12: Variables and Outputs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Parameterize the config, then tear it down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Replace hard-coded values with input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Supply values in a terraform.tfvars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outputs for the VPC and subnet ids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Re-apply and view the outputs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terraform destroy to remove everything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safely tears down everything Terraform created?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terraform remove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terraform delete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terraform destroy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terraform clean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10B6-DCD5-45F6-98D7-00CC4FC5967A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safely tears down everything Terraform created?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terraform remove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terraform delete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destroy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terraform clean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76F1-95F5-4B51-AFAC-41833E3134C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Day 4 Summary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Infrastructure as Code makes networks repeatable and reviewable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is declarative and tracks state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workflow is init, plan, apply, and destroy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built a VPC, subnets, routing, and security groups as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Variables, outputs, and modules make configs reusable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Tomorrow: Arista EOS and CloudVision automation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138702"/>
            <a:ext cx="121216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Resources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427" y="1387488"/>
            <a:ext cx="11380974" cy="4005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documentation and the AWS provider reference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Terraform Registry - providers and modules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HashiCorp Learn - guided Terraform tutorials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Practice: rebuild the lab network, then destroy 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5 preview: Arista EOS and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fc950-ce8b-4368-ba1f-50a696573338" xsi:nil="true"/>
    <lcf76f155ced4ddcb4097134ff3c332f xmlns="43c38521-ebb8-463a-b3a6-3489c212a8d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65DB60A2A340AA3DE20CE3F38BF3" ma:contentTypeVersion="11" ma:contentTypeDescription="Create a new document." ma:contentTypeScope="" ma:versionID="f166546885502db4352d4c921b2a9521">
  <xsd:schema xmlns:xsd="http://www.w3.org/2001/XMLSchema" xmlns:xs="http://www.w3.org/2001/XMLSchema" xmlns:p="http://schemas.microsoft.com/office/2006/metadata/properties" xmlns:ns2="43c38521-ebb8-463a-b3a6-3489c212a8dd" xmlns:ns3="c50fc950-ce8b-4368-ba1f-50a696573338" targetNamespace="http://schemas.microsoft.com/office/2006/metadata/properties" ma:root="true" ma:fieldsID="0db14a3718d9246ba2e15cb3805e1e65" ns2:_="" ns3:_="">
    <xsd:import namespace="43c38521-ebb8-463a-b3a6-3489c212a8dd"/>
    <xsd:import namespace="c50fc950-ce8b-4368-ba1f-50a6965733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38521-ebb8-463a-b3a6-3489c212a8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fcb8236-1807-4752-b30f-050d9d4b9b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fc950-ce8b-4368-ba1f-50a6965733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18a8d4-1b31-430b-b52a-9696e830da40}" ma:internalName="TaxCatchAll" ma:showField="CatchAllData" ma:web="c50fc950-ce8b-4368-ba1f-50a6965733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5883B-1F0E-43E7-A00A-5782E35002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AF023A-22CA-4691-87BD-C8B42E6FD9DD}">
  <ds:schemaRefs>
    <ds:schemaRef ds:uri="3295d3db-25d5-4f3c-8570-33caabf209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50fc950-ce8b-4368-ba1f-50a696573338"/>
    <ds:schemaRef ds:uri="43c38521-ebb8-463a-b3a6-3489c212a8dd"/>
  </ds:schemaRefs>
</ds:datastoreItem>
</file>

<file path=customXml/itemProps3.xml><?xml version="1.0" encoding="utf-8"?>
<ds:datastoreItem xmlns:ds="http://schemas.openxmlformats.org/officeDocument/2006/customXml" ds:itemID="{7C26A85F-03FA-45D3-85EA-1BD106F7E1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c38521-ebb8-463a-b3a6-3489c212a8dd"/>
    <ds:schemaRef ds:uri="c50fc950-ce8b-4368-ba1f-50a6965733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0439113-2718-46f3-8896-3f7b5851f011}" enabled="0" method="" siteId="{20439113-2718-46f3-8896-3f7b5851f01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11212</TotalTime>
  <Words>5534</Words>
  <Application>Microsoft Macintosh PowerPoint</Application>
  <PresentationFormat>Widescreen</PresentationFormat>
  <Paragraphs>760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Arial Black</vt:lpstr>
      <vt:lpstr>Arial Black (Headings)</vt:lpstr>
      <vt:lpstr>Calibri</vt:lpstr>
      <vt:lpstr>Courier New</vt:lpstr>
      <vt:lpstr>Gadugi</vt:lpstr>
      <vt:lpstr>Leelawadee</vt:lpstr>
      <vt:lpstr>Leelawadee UI</vt:lpstr>
      <vt:lpstr>Leelawadee UI Semilight</vt:lpstr>
      <vt:lpstr>Nirmala UI Semilight</vt:lpstr>
      <vt:lpstr>Wingdings</vt:lpstr>
      <vt:lpstr>Essential</vt:lpstr>
      <vt:lpstr>PowerPoint Presentation</vt:lpstr>
      <vt:lpstr>PowerPoint Presentation</vt:lpstr>
      <vt:lpstr>Where Day 3 Left Off</vt:lpstr>
      <vt:lpstr>Agenda for Day 4</vt:lpstr>
      <vt:lpstr>Infrastructure as Code</vt:lpstr>
      <vt:lpstr>What Is Infrastructure as Code?</vt:lpstr>
      <vt:lpstr>Why Terraform?</vt:lpstr>
      <vt:lpstr>Terraform vs Ansible</vt:lpstr>
      <vt:lpstr>Providers and the Registry</vt:lpstr>
      <vt:lpstr>Terraform State</vt:lpstr>
      <vt:lpstr>Installing Terraform</vt:lpstr>
      <vt:lpstr>PowerPoint Presentation</vt:lpstr>
      <vt:lpstr>PowerPoint Presentation</vt:lpstr>
      <vt:lpstr>The HCL Language</vt:lpstr>
      <vt:lpstr>HCL - Blocks and Arguments</vt:lpstr>
      <vt:lpstr>Resources</vt:lpstr>
      <vt:lpstr>Input Variables</vt:lpstr>
      <vt:lpstr>Variable Files - tfvars</vt:lpstr>
      <vt:lpstr>Outputs</vt:lpstr>
      <vt:lpstr>Locals and Expressions</vt:lpstr>
      <vt:lpstr>Referencing Resources</vt:lpstr>
      <vt:lpstr>PowerPoint Presentation</vt:lpstr>
      <vt:lpstr>PowerPoint Presentation</vt:lpstr>
      <vt:lpstr>The Terraform Workflow</vt:lpstr>
      <vt:lpstr>terraform init</vt:lpstr>
      <vt:lpstr>terraform plan</vt:lpstr>
      <vt:lpstr>terraform apply</vt:lpstr>
      <vt:lpstr>terraform destroy</vt:lpstr>
      <vt:lpstr>Reading the Plan Output</vt:lpstr>
      <vt:lpstr>PowerPoint Presentation</vt:lpstr>
      <vt:lpstr>PowerPoint Presentation</vt:lpstr>
      <vt:lpstr>Building the AWS Network</vt:lpstr>
      <vt:lpstr>The aws Provider</vt:lpstr>
      <vt:lpstr>Creating a VPC</vt:lpstr>
      <vt:lpstr>Creating Subnets</vt:lpstr>
      <vt:lpstr>Internet Gateway and Routing</vt:lpstr>
      <vt:lpstr>Route Table Associations</vt:lpstr>
      <vt:lpstr>Tags and Naming</vt:lpstr>
      <vt:lpstr>Security Groups and Connectivity</vt:lpstr>
      <vt:lpstr>What Is a Security Group?</vt:lpstr>
      <vt:lpstr>Ingress and Egress Rules</vt:lpstr>
      <vt:lpstr>Writing SG Rules in Terraform</vt:lpstr>
      <vt:lpstr>Attaching Security Groups</vt:lpstr>
      <vt:lpstr>PowerPoint Presentation</vt:lpstr>
      <vt:lpstr>PowerPoint Presentation</vt:lpstr>
      <vt:lpstr>Variables, Outputs, and Reuse</vt:lpstr>
      <vt:lpstr>Parameterizing with Variables</vt:lpstr>
      <vt:lpstr>Outputs for Handoff</vt:lpstr>
      <vt:lpstr>Introducing Modules</vt:lpstr>
      <vt:lpstr>Using a Module</vt:lpstr>
      <vt:lpstr>Remote State and Teams</vt:lpstr>
      <vt:lpstr>The Day 4 Labs</vt:lpstr>
      <vt:lpstr>Lab Environment and Setup</vt:lpstr>
      <vt:lpstr>Lab 10: Build a VPC</vt:lpstr>
      <vt:lpstr>Lab 11: Routing and Security</vt:lpstr>
      <vt:lpstr>Lab 12: Variables and Outputs</vt:lpstr>
      <vt:lpstr>PowerPoint Presentation</vt:lpstr>
      <vt:lpstr>PowerPoint Presentation</vt:lpstr>
      <vt:lpstr>Day 4 Summary</vt:lpstr>
      <vt:lpstr>Resources and What's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Donis Marshall</dc:creator>
  <cp:lastModifiedBy>Tommy Shorez</cp:lastModifiedBy>
  <cp:revision>27</cp:revision>
  <cp:lastPrinted>2022-09-12T00:43:32Z</cp:lastPrinted>
  <dcterms:created xsi:type="dcterms:W3CDTF">2016-09-10T10:34:19Z</dcterms:created>
  <dcterms:modified xsi:type="dcterms:W3CDTF">2026-07-16T22:24:06Z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0x01010008EF65DB60A2A340AA3DE20CE3F38BF3</vt:lpwstr>
  </property>
  <property fmtid="{D5CDD505-2E9C-101B-9397-08002B2CF9AE}" pid="3" name="MediaServiceImageTags">
    <vt:lpwstr/>
  </property>
  <property fmtid="{D5CDD505-2E9C-101B-9397-08002B2CF9AE}" pid="4" name="Order">
    <vt:lpwstr>48900.0000000000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_SharedFileIndex">
    <vt:lpwstr/>
  </property>
  <property fmtid="{D5CDD505-2E9C-101B-9397-08002B2CF9AE}" pid="12" name="_SourceUrl">
    <vt:lpwstr/>
  </property>
</Properties>
</file>