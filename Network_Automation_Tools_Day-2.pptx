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65"/>
  </p:notesMasterIdLst>
  <p:handoutMasterIdLst>
    <p:handoutMasterId r:id="rId66"/>
  </p:handoutMasterIdLst>
  <p:sldIdLst>
    <p:sldId id="5200" r:id="rId5"/>
    <p:sldId id="5201" r:id="rId6"/>
    <p:sldId id="5202" r:id="rId7"/>
    <p:sldId id="5203" r:id="rId8"/>
    <p:sldId id="5204" r:id="rId9"/>
    <p:sldId id="5205" r:id="rId10"/>
    <p:sldId id="5206" r:id="rId11"/>
    <p:sldId id="5207" r:id="rId12"/>
    <p:sldId id="5208" r:id="rId13"/>
    <p:sldId id="5209" r:id="rId14"/>
    <p:sldId id="5210" r:id="rId15"/>
    <p:sldId id="5211" r:id="rId16"/>
    <p:sldId id="5212" r:id="rId17"/>
    <p:sldId id="5213" r:id="rId18"/>
    <p:sldId id="5214" r:id="rId19"/>
    <p:sldId id="5215" r:id="rId20"/>
    <p:sldId id="5216" r:id="rId21"/>
    <p:sldId id="5217" r:id="rId22"/>
    <p:sldId id="5218" r:id="rId23"/>
    <p:sldId id="5219" r:id="rId24"/>
    <p:sldId id="5220" r:id="rId25"/>
    <p:sldId id="5221" r:id="rId26"/>
    <p:sldId id="5222" r:id="rId27"/>
    <p:sldId id="5223" r:id="rId28"/>
    <p:sldId id="5224" r:id="rId29"/>
    <p:sldId id="5225" r:id="rId30"/>
    <p:sldId id="5226" r:id="rId31"/>
    <p:sldId id="5227" r:id="rId32"/>
    <p:sldId id="5228" r:id="rId33"/>
    <p:sldId id="5229" r:id="rId34"/>
    <p:sldId id="5230" r:id="rId35"/>
    <p:sldId id="5231" r:id="rId36"/>
    <p:sldId id="5232" r:id="rId37"/>
    <p:sldId id="5233" r:id="rId38"/>
    <p:sldId id="5234" r:id="rId39"/>
    <p:sldId id="5235" r:id="rId40"/>
    <p:sldId id="5236" r:id="rId41"/>
    <p:sldId id="5237" r:id="rId42"/>
    <p:sldId id="5238" r:id="rId43"/>
    <p:sldId id="5239" r:id="rId44"/>
    <p:sldId id="5240" r:id="rId45"/>
    <p:sldId id="5241" r:id="rId46"/>
    <p:sldId id="5242" r:id="rId47"/>
    <p:sldId id="5243" r:id="rId48"/>
    <p:sldId id="5244" r:id="rId49"/>
    <p:sldId id="5245" r:id="rId50"/>
    <p:sldId id="5246" r:id="rId51"/>
    <p:sldId id="5247" r:id="rId52"/>
    <p:sldId id="5248" r:id="rId53"/>
    <p:sldId id="5249" r:id="rId54"/>
    <p:sldId id="5250" r:id="rId55"/>
    <p:sldId id="5251" r:id="rId56"/>
    <p:sldId id="5252" r:id="rId57"/>
    <p:sldId id="5253" r:id="rId58"/>
    <p:sldId id="5254" r:id="rId59"/>
    <p:sldId id="5255" r:id="rId60"/>
    <p:sldId id="5256" r:id="rId61"/>
    <p:sldId id="5257" r:id="rId62"/>
    <p:sldId id="5258" r:id="rId63"/>
    <p:sldId id="5259" r:id="rId6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oduction" id="{DF6D6B3A-AE01-3D4B-83F8-037D656A1ACB}">
          <p14:sldIdLst>
            <p14:sldId id="5200"/>
            <p14:sldId id="5201"/>
            <p14:sldId id="5202"/>
            <p14:sldId id="5203"/>
            <p14:sldId id="5204"/>
            <p14:sldId id="5205"/>
            <p14:sldId id="5206"/>
            <p14:sldId id="5207"/>
            <p14:sldId id="5208"/>
            <p14:sldId id="5209"/>
            <p14:sldId id="5210"/>
            <p14:sldId id="5211"/>
            <p14:sldId id="5212"/>
            <p14:sldId id="5213"/>
            <p14:sldId id="5214"/>
            <p14:sldId id="5215"/>
            <p14:sldId id="5216"/>
            <p14:sldId id="5217"/>
            <p14:sldId id="5218"/>
            <p14:sldId id="5219"/>
            <p14:sldId id="5220"/>
            <p14:sldId id="5221"/>
            <p14:sldId id="5222"/>
            <p14:sldId id="5223"/>
            <p14:sldId id="5224"/>
            <p14:sldId id="5225"/>
            <p14:sldId id="5226"/>
            <p14:sldId id="5227"/>
            <p14:sldId id="5228"/>
            <p14:sldId id="5229"/>
            <p14:sldId id="5230"/>
            <p14:sldId id="5231"/>
            <p14:sldId id="5232"/>
            <p14:sldId id="5233"/>
            <p14:sldId id="5234"/>
            <p14:sldId id="5235"/>
            <p14:sldId id="5236"/>
            <p14:sldId id="5237"/>
            <p14:sldId id="5238"/>
            <p14:sldId id="5239"/>
            <p14:sldId id="5240"/>
            <p14:sldId id="5241"/>
            <p14:sldId id="5242"/>
            <p14:sldId id="5243"/>
            <p14:sldId id="5244"/>
            <p14:sldId id="5245"/>
            <p14:sldId id="5246"/>
            <p14:sldId id="5247"/>
            <p14:sldId id="5248"/>
            <p14:sldId id="5249"/>
            <p14:sldId id="5250"/>
            <p14:sldId id="5251"/>
            <p14:sldId id="5252"/>
            <p14:sldId id="5253"/>
            <p14:sldId id="5254"/>
            <p14:sldId id="5255"/>
            <p14:sldId id="5256"/>
            <p14:sldId id="5257"/>
            <p14:sldId id="5258"/>
            <p14:sldId id="5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is Dell" initials="DD" lastIdx="20" clrIdx="0">
    <p:extLst>
      <p:ext uri="{19B8F6BF-5375-455C-9EA6-DF929625EA0E}">
        <p15:presenceInfo xmlns:p15="http://schemas.microsoft.com/office/powerpoint/2012/main" userId="Donis Dell" providerId="None"/>
      </p:ext>
    </p:extLst>
  </p:cmAuthor>
  <p:cmAuthor id="2" name="Donis Marshall" initials="DM" lastIdx="2" clrIdx="1">
    <p:extLst>
      <p:ext uri="{19B8F6BF-5375-455C-9EA6-DF929625EA0E}">
        <p15:presenceInfo xmlns:p15="http://schemas.microsoft.com/office/powerpoint/2012/main" userId="5344b77e839037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82E"/>
    <a:srgbClr val="DCE2EF"/>
    <a:srgbClr val="FFFFFF"/>
    <a:srgbClr val="7A7A7A"/>
    <a:srgbClr val="000000"/>
    <a:srgbClr val="BAC5DF"/>
    <a:srgbClr val="FFFF00"/>
    <a:srgbClr val="F8F8F8"/>
    <a:srgbClr val="FFE996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23"/>
    <p:restoredTop sz="76849" autoAdjust="0"/>
  </p:normalViewPr>
  <p:slideViewPr>
    <p:cSldViewPr snapToGrid="0">
      <p:cViewPr varScale="1">
        <p:scale>
          <a:sx n="96" d="100"/>
          <a:sy n="96" d="100"/>
        </p:scale>
        <p:origin x="18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Pisarski" userId="d02b65583013a7bc" providerId="LiveId" clId="{C8F6ED65-30DA-4A82-8BCB-159659A529E9}"/>
    <pc:docChg chg="undo custSel addSld delSld modSld sldOrd modSection">
      <pc:chgData name="Christophe Pisarski" userId="d02b65583013a7bc" providerId="LiveId" clId="{C8F6ED65-30DA-4A82-8BCB-159659A529E9}" dt="2025-11-03T20:51:46.319" v="1043"/>
      <pc:docMkLst>
        <pc:docMk/>
      </pc:docMkLst>
      <pc:sldChg chg="modSp add mod">
        <pc:chgData name="Christophe Pisarski" userId="d02b65583013a7bc" providerId="LiveId" clId="{C8F6ED65-30DA-4A82-8BCB-159659A529E9}" dt="2025-11-03T20:50:38.626" v="1027" actId="15"/>
        <pc:sldMkLst>
          <pc:docMk/>
          <pc:sldMk cId="1269055248" sldId="5323"/>
        </pc:sldMkLst>
        <pc:spChg chg="mod">
          <ac:chgData name="Christophe Pisarski" userId="d02b65583013a7bc" providerId="LiveId" clId="{C8F6ED65-30DA-4A82-8BCB-159659A529E9}" dt="2025-11-03T20:50:38.626" v="1027" actId="15"/>
          <ac:spMkLst>
            <pc:docMk/>
            <pc:sldMk cId="1269055248" sldId="5323"/>
            <ac:spMk id="4" creationId="{287F0F74-8156-3987-3F21-08B99EC825AE}"/>
          </ac:spMkLst>
        </pc:spChg>
      </pc:sldChg>
      <pc:sldChg chg="modSp add mod">
        <pc:chgData name="Christophe Pisarski" userId="d02b65583013a7bc" providerId="LiveId" clId="{C8F6ED65-30DA-4A82-8BCB-159659A529E9}" dt="2025-11-03T20:08:39.406" v="986"/>
        <pc:sldMkLst>
          <pc:docMk/>
          <pc:sldMk cId="2838373956" sldId="5419"/>
        </pc:sldMkLst>
        <pc:spChg chg="mod">
          <ac:chgData name="Christophe Pisarski" userId="d02b65583013a7bc" providerId="LiveId" clId="{C8F6ED65-30DA-4A82-8BCB-159659A529E9}" dt="2025-11-03T20:08:39.406" v="986"/>
          <ac:spMkLst>
            <pc:docMk/>
            <pc:sldMk cId="2838373956" sldId="5419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4:54.489" v="978"/>
        <pc:sldMkLst>
          <pc:docMk/>
          <pc:sldMk cId="1789927104" sldId="5420"/>
        </pc:sldMkLst>
        <pc:spChg chg="mod">
          <ac:chgData name="Christophe Pisarski" userId="d02b65583013a7bc" providerId="LiveId" clId="{C8F6ED65-30DA-4A82-8BCB-159659A529E9}" dt="2025-11-03T19:04:54.489" v="978"/>
          <ac:spMkLst>
            <pc:docMk/>
            <pc:sldMk cId="1789927104" sldId="5420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19:05:07.791" v="982"/>
        <pc:sldMkLst>
          <pc:docMk/>
          <pc:sldMk cId="2212894656" sldId="5421"/>
        </pc:sldMkLst>
        <pc:spChg chg="mod">
          <ac:chgData name="Christophe Pisarski" userId="d02b65583013a7bc" providerId="LiveId" clId="{C8F6ED65-30DA-4A82-8BCB-159659A529E9}" dt="2025-11-03T19:05:07.791" v="982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mod">
        <pc:chgData name="Christophe Pisarski" userId="d02b65583013a7bc" providerId="LiveId" clId="{C8F6ED65-30DA-4A82-8BCB-159659A529E9}" dt="2025-11-03T20:11:27.130" v="996"/>
        <pc:sldMkLst>
          <pc:docMk/>
          <pc:sldMk cId="1948781550" sldId="5422"/>
        </pc:sldMkLst>
        <pc:spChg chg="mod">
          <ac:chgData name="Christophe Pisarski" userId="d02b65583013a7bc" providerId="LiveId" clId="{C8F6ED65-30DA-4A82-8BCB-159659A529E9}" dt="2025-11-03T20:11:27.130" v="996"/>
          <ac:spMkLst>
            <pc:docMk/>
            <pc:sldMk cId="1948781550" sldId="5422"/>
            <ac:spMk id="3" creationId="{3F20C819-E920-9640-8708-4F9E5C2C241C}"/>
          </ac:spMkLst>
        </pc:spChg>
      </pc:sldChg>
      <pc:sldChg chg="modSp add mod ord">
        <pc:chgData name="Christophe Pisarski" userId="d02b65583013a7bc" providerId="LiveId" clId="{C8F6ED65-30DA-4A82-8BCB-159659A529E9}" dt="2025-11-03T20:10:37.522" v="992"/>
        <pc:sldMkLst>
          <pc:docMk/>
          <pc:sldMk cId="921373599" sldId="5423"/>
        </pc:sldMkLst>
        <pc:spChg chg="mod">
          <ac:chgData name="Christophe Pisarski" userId="d02b65583013a7bc" providerId="LiveId" clId="{C8F6ED65-30DA-4A82-8BCB-159659A529E9}" dt="2025-11-03T20:10:28.197" v="990"/>
          <ac:spMkLst>
            <pc:docMk/>
            <pc:sldMk cId="921373599" sldId="5423"/>
            <ac:spMk id="3" creationId="{0831CFFE-2DA1-7DA9-AD74-A5717AC17359}"/>
          </ac:spMkLst>
        </pc:spChg>
      </pc:sldChg>
      <pc:sldChg chg="modSp add mod">
        <pc:chgData name="Christophe Pisarski" userId="d02b65583013a7bc" providerId="LiveId" clId="{C8F6ED65-30DA-4A82-8BCB-159659A529E9}" dt="2025-11-03T20:12:31.853" v="1008"/>
        <pc:sldMkLst>
          <pc:docMk/>
          <pc:sldMk cId="1821725136" sldId="5424"/>
        </pc:sldMkLst>
        <pc:spChg chg="mod">
          <ac:chgData name="Christophe Pisarski" userId="d02b65583013a7bc" providerId="LiveId" clId="{C8F6ED65-30DA-4A82-8BCB-159659A529E9}" dt="2025-11-03T20:12:31.853" v="1008"/>
          <ac:spMkLst>
            <pc:docMk/>
            <pc:sldMk cId="1821725136" sldId="5424"/>
            <ac:spMk id="3" creationId="{5C8F29A5-4E71-E105-8886-C6D2F22137B5}"/>
          </ac:spMkLst>
        </pc:spChg>
      </pc:sldChg>
      <pc:sldChg chg="modSp add mod">
        <pc:chgData name="Christophe Pisarski" userId="d02b65583013a7bc" providerId="LiveId" clId="{C8F6ED65-30DA-4A82-8BCB-159659A529E9}" dt="2025-11-03T20:13:32.487" v="1013"/>
        <pc:sldMkLst>
          <pc:docMk/>
          <pc:sldMk cId="3785603568" sldId="5425"/>
        </pc:sldMkLst>
        <pc:spChg chg="mod">
          <ac:chgData name="Christophe Pisarski" userId="d02b65583013a7bc" providerId="LiveId" clId="{C8F6ED65-30DA-4A82-8BCB-159659A529E9}" dt="2025-11-03T20:13:32.487" v="1013"/>
          <ac:spMkLst>
            <pc:docMk/>
            <pc:sldMk cId="3785603568" sldId="5425"/>
            <ac:spMk id="3" creationId="{51688AB2-DE8D-E6FA-870F-75D8C46C2DB3}"/>
          </ac:spMkLst>
        </pc:spChg>
      </pc:sldChg>
      <pc:sldChg chg="modSp add mod">
        <pc:chgData name="Christophe Pisarski" userId="d02b65583013a7bc" providerId="LiveId" clId="{C8F6ED65-30DA-4A82-8BCB-159659A529E9}" dt="2025-11-03T20:50:05.844" v="1022" actId="15"/>
        <pc:sldMkLst>
          <pc:docMk/>
          <pc:sldMk cId="2845436603" sldId="5426"/>
        </pc:sldMkLst>
        <pc:spChg chg="mod">
          <ac:chgData name="Christophe Pisarski" userId="d02b65583013a7bc" providerId="LiveId" clId="{C8F6ED65-30DA-4A82-8BCB-159659A529E9}" dt="2025-11-03T20:50:05.844" v="1022" actId="15"/>
          <ac:spMkLst>
            <pc:docMk/>
            <pc:sldMk cId="2845436603" sldId="5426"/>
            <ac:spMk id="4" creationId="{291F868F-8620-18F8-FC39-5FB41C5BF454}"/>
          </ac:spMkLst>
        </pc:spChg>
        <pc:spChg chg="mod">
          <ac:chgData name="Christophe Pisarski" userId="d02b65583013a7bc" providerId="LiveId" clId="{C8F6ED65-30DA-4A82-8BCB-159659A529E9}" dt="2025-11-03T20:49:56.543" v="1017" actId="20577"/>
          <ac:spMkLst>
            <pc:docMk/>
            <pc:sldMk cId="2845436603" sldId="5426"/>
            <ac:spMk id="10" creationId="{F932C9E3-254A-5BF3-4DE0-BD5EA1CB7B11}"/>
          </ac:spMkLst>
        </pc:spChg>
      </pc:sldChg>
      <pc:sldChg chg="modSp add mod">
        <pc:chgData name="Christophe Pisarski" userId="d02b65583013a7bc" providerId="LiveId" clId="{C8F6ED65-30DA-4A82-8BCB-159659A529E9}" dt="2025-11-03T20:51:30.986" v="1036"/>
        <pc:sldMkLst>
          <pc:docMk/>
          <pc:sldMk cId="2494933271" sldId="5427"/>
        </pc:sldMkLst>
        <pc:spChg chg="mod">
          <ac:chgData name="Christophe Pisarski" userId="d02b65583013a7bc" providerId="LiveId" clId="{C8F6ED65-30DA-4A82-8BCB-159659A529E9}" dt="2025-11-03T20:51:26.314" v="1035" actId="15"/>
          <ac:spMkLst>
            <pc:docMk/>
            <pc:sldMk cId="2494933271" sldId="5427"/>
            <ac:spMk id="4" creationId="{83CCDBEC-751E-52F4-FC4D-46868ACFC7A2}"/>
          </ac:spMkLst>
        </pc:spChg>
        <pc:spChg chg="mod">
          <ac:chgData name="Christophe Pisarski" userId="d02b65583013a7bc" providerId="LiveId" clId="{C8F6ED65-30DA-4A82-8BCB-159659A529E9}" dt="2025-11-03T20:51:30.986" v="1036"/>
          <ac:spMkLst>
            <pc:docMk/>
            <pc:sldMk cId="2494933271" sldId="5427"/>
            <ac:spMk id="10" creationId="{3FBE99C7-1D3E-CE41-2C10-BABB37520FEE}"/>
          </ac:spMkLst>
        </pc:spChg>
      </pc:sldChg>
      <pc:sldChg chg="modSp add mod">
        <pc:chgData name="Christophe Pisarski" userId="d02b65583013a7bc" providerId="LiveId" clId="{C8F6ED65-30DA-4A82-8BCB-159659A529E9}" dt="2025-11-03T20:51:46.319" v="1043"/>
        <pc:sldMkLst>
          <pc:docMk/>
          <pc:sldMk cId="299369119" sldId="5428"/>
        </pc:sldMkLst>
        <pc:spChg chg="mod">
          <ac:chgData name="Christophe Pisarski" userId="d02b65583013a7bc" providerId="LiveId" clId="{C8F6ED65-30DA-4A82-8BCB-159659A529E9}" dt="2025-11-03T20:51:41.944" v="1042" actId="15"/>
          <ac:spMkLst>
            <pc:docMk/>
            <pc:sldMk cId="299369119" sldId="5428"/>
            <ac:spMk id="4" creationId="{287868ED-2DE1-4CAB-DE44-D0558F832AD4}"/>
          </ac:spMkLst>
        </pc:spChg>
        <pc:spChg chg="mod">
          <ac:chgData name="Christophe Pisarski" userId="d02b65583013a7bc" providerId="LiveId" clId="{C8F6ED65-30DA-4A82-8BCB-159659A529E9}" dt="2025-11-03T20:51:46.319" v="1043"/>
          <ac:spMkLst>
            <pc:docMk/>
            <pc:sldMk cId="299369119" sldId="5428"/>
            <ac:spMk id="10" creationId="{76C88917-0FC2-9E7F-43F6-63B5802EDD37}"/>
          </ac:spMkLst>
        </pc:spChg>
      </pc:sldChg>
    </pc:docChg>
  </pc:docChgLst>
  <pc:docChgLst>
    <pc:chgData name="Christophe Pisarski" userId="S::chris.pisarski@opscosolutions.com::a3bc632b-29a9-457b-a7a6-086e990bc5ce" providerId="AD" clId="Web-{05D6C9EA-54CD-37A3-3894-F981A69EFAD1}"/>
    <pc:docChg chg="addSld delSld modSld sldOrd modSection">
      <pc:chgData name="Christophe Pisarski" userId="S::chris.pisarski@opscosolutions.com::a3bc632b-29a9-457b-a7a6-086e990bc5ce" providerId="AD" clId="Web-{05D6C9EA-54CD-37A3-3894-F981A69EFAD1}" dt="2025-11-04T20:17:23.098" v="19" actId="20577"/>
      <pc:docMkLst>
        <pc:docMk/>
      </pc:docMkLst>
      <pc:sldChg chg="modSp ord">
        <pc:chgData name="Christophe Pisarski" userId="S::chris.pisarski@opscosolutions.com::a3bc632b-29a9-457b-a7a6-086e990bc5ce" providerId="AD" clId="Web-{05D6C9EA-54CD-37A3-3894-F981A69EFAD1}" dt="2025-11-04T20:16:30.518" v="12" actId="20577"/>
        <pc:sldMkLst>
          <pc:docMk/>
          <pc:sldMk cId="2212894656" sldId="5421"/>
        </pc:sldMkLst>
        <pc:spChg chg="mod">
          <ac:chgData name="Christophe Pisarski" userId="S::chris.pisarski@opscosolutions.com::a3bc632b-29a9-457b-a7a6-086e990bc5ce" providerId="AD" clId="Web-{05D6C9EA-54CD-37A3-3894-F981A69EFAD1}" dt="2025-11-04T20:16:30.518" v="12" actId="20577"/>
          <ac:spMkLst>
            <pc:docMk/>
            <pc:sldMk cId="2212894656" sldId="5421"/>
            <ac:spMk id="3" creationId="{88493897-AFE4-89FB-8E44-9A54B2437565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31.203" v="8" actId="20577"/>
        <pc:sldMkLst>
          <pc:docMk/>
          <pc:sldMk cId="1407374015" sldId="5429"/>
        </pc:sldMkLst>
        <pc:spChg chg="mod">
          <ac:chgData name="Christophe Pisarski" userId="S::chris.pisarski@opscosolutions.com::a3bc632b-29a9-457b-a7a6-086e990bc5ce" providerId="AD" clId="Web-{05D6C9EA-54CD-37A3-3894-F981A69EFAD1}" dt="2025-11-04T20:15:31.203" v="8" actId="20577"/>
          <ac:spMkLst>
            <pc:docMk/>
            <pc:sldMk cId="1407374015" sldId="5429"/>
            <ac:spMk id="3" creationId="{CDF3282E-9689-A628-FF40-04153F85D49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5:47.985" v="9" actId="20577"/>
        <pc:sldMkLst>
          <pc:docMk/>
          <pc:sldMk cId="2050092000" sldId="5430"/>
        </pc:sldMkLst>
        <pc:spChg chg="mod">
          <ac:chgData name="Christophe Pisarski" userId="S::chris.pisarski@opscosolutions.com::a3bc632b-29a9-457b-a7a6-086e990bc5ce" providerId="AD" clId="Web-{05D6C9EA-54CD-37A3-3894-F981A69EFAD1}" dt="2025-11-04T20:15:47.985" v="9" actId="20577"/>
          <ac:spMkLst>
            <pc:docMk/>
            <pc:sldMk cId="2050092000" sldId="5430"/>
            <ac:spMk id="3" creationId="{C99F0B6E-46A6-7F92-FA40-1BA7BCBBD04C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32.940" v="13" actId="20577"/>
        <pc:sldMkLst>
          <pc:docMk/>
          <pc:sldMk cId="3662756667" sldId="5431"/>
        </pc:sldMkLst>
        <pc:spChg chg="mod">
          <ac:chgData name="Christophe Pisarski" userId="S::chris.pisarski@opscosolutions.com::a3bc632b-29a9-457b-a7a6-086e990bc5ce" providerId="AD" clId="Web-{05D6C9EA-54CD-37A3-3894-F981A69EFAD1}" dt="2025-11-04T20:16:32.940" v="13" actId="20577"/>
          <ac:spMkLst>
            <pc:docMk/>
            <pc:sldMk cId="3662756667" sldId="5431"/>
            <ac:spMk id="3" creationId="{3E6D56CC-6649-E7CD-458E-9A08DD167A5E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6:53.191" v="17" actId="20577"/>
        <pc:sldMkLst>
          <pc:docMk/>
          <pc:sldMk cId="2548019104" sldId="5432"/>
        </pc:sldMkLst>
        <pc:spChg chg="mod">
          <ac:chgData name="Christophe Pisarski" userId="S::chris.pisarski@opscosolutions.com::a3bc632b-29a9-457b-a7a6-086e990bc5ce" providerId="AD" clId="Web-{05D6C9EA-54CD-37A3-3894-F981A69EFAD1}" dt="2025-11-04T20:16:53.191" v="17" actId="20577"/>
          <ac:spMkLst>
            <pc:docMk/>
            <pc:sldMk cId="2548019104" sldId="5432"/>
            <ac:spMk id="3" creationId="{E3F7E5A8-70FA-23E9-8139-6E78FDDD1C10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02.019" v="18" actId="20577"/>
        <pc:sldMkLst>
          <pc:docMk/>
          <pc:sldMk cId="425596026" sldId="5433"/>
        </pc:sldMkLst>
        <pc:spChg chg="mod">
          <ac:chgData name="Christophe Pisarski" userId="S::chris.pisarski@opscosolutions.com::a3bc632b-29a9-457b-a7a6-086e990bc5ce" providerId="AD" clId="Web-{05D6C9EA-54CD-37A3-3894-F981A69EFAD1}" dt="2025-11-04T20:17:02.019" v="18" actId="20577"/>
          <ac:spMkLst>
            <pc:docMk/>
            <pc:sldMk cId="425596026" sldId="5433"/>
            <ac:spMk id="3" creationId="{BEF4A805-04CA-7BF0-5E79-8669750B008D}"/>
          </ac:spMkLst>
        </pc:spChg>
      </pc:sldChg>
      <pc:sldChg chg="modSp add replId">
        <pc:chgData name="Christophe Pisarski" userId="S::chris.pisarski@opscosolutions.com::a3bc632b-29a9-457b-a7a6-086e990bc5ce" providerId="AD" clId="Web-{05D6C9EA-54CD-37A3-3894-F981A69EFAD1}" dt="2025-11-04T20:17:23.098" v="19" actId="20577"/>
        <pc:sldMkLst>
          <pc:docMk/>
          <pc:sldMk cId="1887911048" sldId="5434"/>
        </pc:sldMkLst>
        <pc:spChg chg="mod">
          <ac:chgData name="Christophe Pisarski" userId="S::chris.pisarski@opscosolutions.com::a3bc632b-29a9-457b-a7a6-086e990bc5ce" providerId="AD" clId="Web-{05D6C9EA-54CD-37A3-3894-F981A69EFAD1}" dt="2025-11-04T20:17:23.098" v="19" actId="20577"/>
          <ac:spMkLst>
            <pc:docMk/>
            <pc:sldMk cId="1887911048" sldId="5434"/>
            <ac:spMk id="3" creationId="{C102FF38-813B-3A07-699B-6E0086AE63DB}"/>
          </ac:spMkLst>
        </pc:spChg>
      </pc:sldChg>
    </pc:docChg>
  </pc:docChgLst>
  <pc:docChgLst>
    <pc:chgData name="Daniel Blanco" userId="S::daniel@opscosolutions.com::617a8655-ec2c-44e5-b2ee-a4e2490e9763" providerId="AD" clId="Web-{933B9EBF-00E0-7818-4370-7608D01E78B3}"/>
    <pc:docChg chg="addSld modSection">
      <pc:chgData name="Daniel Blanco" userId="S::daniel@opscosolutions.com::617a8655-ec2c-44e5-b2ee-a4e2490e9763" providerId="AD" clId="Web-{933B9EBF-00E0-7818-4370-7608D01E78B3}" dt="2025-11-20T18:10:56.979" v="0"/>
      <pc:docMkLst>
        <pc:docMk/>
      </pc:docMkLst>
      <pc:sldChg chg="add">
        <pc:chgData name="Daniel Blanco" userId="S::daniel@opscosolutions.com::617a8655-ec2c-44e5-b2ee-a4e2490e9763" providerId="AD" clId="Web-{933B9EBF-00E0-7818-4370-7608D01E78B3}" dt="2025-11-20T18:10:56.979" v="0"/>
        <pc:sldMkLst>
          <pc:docMk/>
          <pc:sldMk cId="560062097" sldId="54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02702324-D059-4239-BDE2-718484C5CD7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3D02100C-5FC6-4E55-A73F-BA402BFD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0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64" tIns="46582" rIns="93164" bIns="46582" rtlCol="0"/>
          <a:lstStyle>
            <a:lvl1pPr algn="r">
              <a:defRPr sz="1200"/>
            </a:lvl1pPr>
          </a:lstStyle>
          <a:p>
            <a:fld id="{FD6B594A-5125-48A0-B9FD-E17B6C1AB51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4" tIns="46582" rIns="93164" bIns="465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4" tIns="46582" rIns="93164" bIns="4658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64" tIns="46582" rIns="93164" bIns="46582" rtlCol="0" anchor="b"/>
          <a:lstStyle>
            <a:lvl1pPr algn="r">
              <a:defRPr sz="1200"/>
            </a:lvl1pPr>
          </a:lstStyle>
          <a:p>
            <a:fld id="{DAC03921-7077-42B0-8C81-48C0A93EA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Welcome back. Day 1 gave us the foundations - YAML, Ansible, idempotency - and we configured two live routers.</a:t>
            </a:r>
          </a:p>
          <a:p>
            <a:r>
              <a:rPr lang="en-US" sz="1400" dirty="0"/>
              <a:t>Day 2 is where playbooks grow up. We make them dynamic with variables, generate config with templates, package everything into roles, and protect secrets with Vault.</a:t>
            </a:r>
          </a:p>
          <a:p>
            <a:r>
              <a:rPr lang="en-US" sz="1400" dirty="0"/>
              <a:t>By the end you will turn yesterday's one-off playbooks into reusable, production-style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44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2934-626A-AD1C-0CF1-2C31DF4C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9911B-255D-C6DF-45E1-575E4132A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DF50-9859-8219-84F7-B010766C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Set the tone: same tools as Day 1, applied with structure and reuse in mind.</a:t>
            </a:r>
          </a:p>
          <a:p>
            <a:r>
              <a:rPr lang="en-US" sz="1400" dirty="0"/>
              <a:t>Today is less about new modules and more about how professionals organize automation so it scales across many devices and teams.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921E-C787-9BF1-3E26-2F7B31673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Anchor Day 2 in what they already did. Everything today extends yesterday's playbooks rather than replacing them.</a:t>
            </a:r>
          </a:p>
          <a:p>
            <a:r>
              <a:rPr lang="en-US" sz="1400" dirty="0"/>
              <a:t>Call back to idempotency specifically - it is the safety property that makes the reusable patterns today trustworthy.</a:t>
            </a:r>
          </a:p>
          <a:p>
            <a:r>
              <a:rPr lang="en-US" sz="1400" dirty="0"/>
              <a:t>The YAML they learned is exactly what variables, templates, and roles are written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3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7EAF-89BA-1471-D45D-E1D66383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709D6-6B2C-32BE-F82F-C815110B1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6ED90-00A3-2618-B17C-0C117E8AA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Preview the day. The morning builds four capabilities - variables, templates, roles, vault - that stack on top of each other.</a:t>
            </a:r>
          </a:p>
          <a:p>
            <a:r>
              <a:rPr lang="en-US" sz="1400" dirty="0"/>
              <a:t>Each concept feeds the labs: Lab 4 uses variables and templates, Lab 5 builds a role, Lab 6 secures secrets.</a:t>
            </a:r>
          </a:p>
          <a:p>
            <a:r>
              <a:rPr lang="en-US" sz="1400" dirty="0"/>
              <a:t>Reassure students this is still Ansible - no new tool to install, just deeper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D06B7-5465-0CB6-11BB-CB1327B86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9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2C52-4291-6907-B551-0DF3CFB6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3F8DF-7D3E-C640-8680-04F44931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B7508-0235-5B83-E27E-16A1F9280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one: variables are what turn a hard-coded playbook into a flexible one.</a:t>
            </a:r>
          </a:p>
          <a:p>
            <a:r>
              <a:rPr lang="en-US" sz="1400" dirty="0"/>
              <a:t>Ask the room how they would configure fifty routers that each need a different IP. The answer is variables, and that is where we start.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4ACF0-257E-42FA-2B05-BB5B17E2A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core idea: separate the logic (the playbook) from the data (the variables). That separation is what lets one playbook serve a whole fleet.</a:t>
            </a:r>
          </a:p>
          <a:p>
            <a:r>
              <a:rPr lang="en-US" sz="1400" dirty="0"/>
              <a:t>Give a concrete example: a single 'configure interface' task driven by a per-host IP variable configures every router correctly.</a:t>
            </a:r>
          </a:p>
          <a:p>
            <a:r>
              <a:rPr lang="en-US" sz="1400" dirty="0"/>
              <a:t>Foreshadow that templates and roles both depend heavily on variables, so this slide underpins the rest of the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B5A7-DC35-4426-7F22-C5955626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1DD22-861A-A544-93F5-AAA1D68D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7B0E-DCC2-E4FE-A21F-F97C4AD0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There are several places to define a variable and knowing them prevents confusion later.</a:t>
            </a:r>
          </a:p>
          <a:p>
            <a:r>
              <a:rPr lang="en-US" sz="1400" dirty="0"/>
              <a:t>The most common in real projects are the host_vars and group_vars directories, covered on the next slide.</a:t>
            </a:r>
          </a:p>
          <a:p>
            <a:r>
              <a:rPr lang="en-US" sz="1400" dirty="0"/>
              <a:t>Note that facts are variables too - Ansible learns them from the device rather than you typing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EE2C5-AF34-FB91-AE5F-654051B20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2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951E-8DFE-8A8F-80E6-D445A4AB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22521-2304-976D-A692-10F0DACD5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09C5-F7F8-A287-C9A7-59E21645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is the pattern professionals use. You never hard-code per-device values; you drop them in these directories and Ansible finds them automatically.</a:t>
            </a:r>
          </a:p>
          <a:p>
            <a:r>
              <a:rPr lang="en-US" sz="1400" dirty="0"/>
              <a:t>Emphasize the naming: the file must match the host or group name exactly for auto-loading to work.</a:t>
            </a:r>
          </a:p>
          <a:p>
            <a:r>
              <a:rPr lang="en-US" sz="1400" dirty="0"/>
              <a:t>Students set these up in Lab 4, so this slide is a direct preview.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844A-409D-7F5B-6A8E-B8DA35FDA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7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5D91-8058-E4F9-52E4-C512D4CB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9BB76-926E-37F7-D312-2908E0746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A32A9-EA34-8CFA-EC2A-DBE7459A7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Precedence is a common source of 'why did it use that value' confusion, so give the simple rule: more specific and later-loaded wins.</a:t>
            </a:r>
          </a:p>
          <a:p>
            <a:r>
              <a:rPr lang="en-US" sz="1400" dirty="0"/>
              <a:t>The two extremes worth memorizing: role defaults are the weakest, and -e on the command line is the strongest.</a:t>
            </a:r>
          </a:p>
          <a:p>
            <a:r>
              <a:rPr lang="en-US" sz="1400" dirty="0"/>
              <a:t>Advise a practical habit: do not scatter the same variable across many files; pick one home for each.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DC521-916B-23F0-8157-ACDD0EF8A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65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9B01-70F7-2332-3473-B8DFC4CE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DB797-8C78-BF22-0974-AE92BDED2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28F2-1A25-3C72-AC61-FBD069B5C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Register is how a playbook reacts to what it finds. You saw it in Day 1 capturing show-command output; today we use it to drive decisions.</a:t>
            </a:r>
          </a:p>
          <a:p>
            <a:r>
              <a:rPr lang="en-US" sz="1400" dirty="0"/>
              <a:t>Walk through the shape: run a task, register the result, then a later task references result.stdout or checks result.rc.</a:t>
            </a:r>
          </a:p>
          <a:p>
            <a:r>
              <a:rPr lang="en-US" sz="1400" dirty="0"/>
              <a:t>Pair this with the conditionals section coming up - register plus when is a powerful combination.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35E17-2551-200C-452E-67A1C87F2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2BBF-8E02-1517-573B-0A92040F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E7427-81C4-2ED9-88B1-D40034548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F9AEE-076C-841E-6774-0016C2CE0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Distinguish the two: facts are discovered automatically; set_fact is a value you compute and store yourself mid-run.</a:t>
            </a:r>
          </a:p>
          <a:p>
            <a:r>
              <a:rPr lang="en-US" sz="1400" dirty="0"/>
              <a:t>Remind them ios_facts is what fills ansible_net_hostname, ansible_net_version, and the interface list from Day 1.</a:t>
            </a:r>
          </a:p>
          <a:p>
            <a:r>
              <a:rPr lang="en-US" sz="1400" dirty="0"/>
              <a:t>set_fact is useful when you need to derive a value once and reuse it across several later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2390A-D487-1A75-E98D-C979E9C74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2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3114-BB57-B7CC-A1E8-EC1D0681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D9E0-C1A9-40B2-34E0-14C9F29C8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5472E-20A5-91DB-775D-4FAF97C6F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Magic variables are provided by Ansible for free and show up constantly in real playbooks.</a:t>
            </a:r>
          </a:p>
          <a:p>
            <a:r>
              <a:rPr lang="en-US" sz="1400" dirty="0"/>
              <a:t>inventory_hostname is the one they will use most - it is how a task knows which device it is currently running against.</a:t>
            </a:r>
          </a:p>
          <a:p>
            <a:r>
              <a:rPr lang="en-US" sz="1400" dirty="0"/>
              <a:t>hostvars is more advanced: it lets one host read another host's data, useful for building configs that reference peers.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B942E-0CA3-31B0-D3C2-E254550B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5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F01D-7402-4E05-08BB-CE0D9C58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3E044-20E4-D293-1F28-2E22A4DC6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8ED53-78F0-45CF-4E99-EEE118DD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variable scope and precedence. Let them reason it through before the reveal.</a:t>
            </a:r>
          </a:p>
          <a:p>
            <a:r>
              <a:rPr lang="en-US" sz="1400" dirty="0"/>
              <a:t>Prompt: which location is more specific than a group file?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21877-C3F1-4062-5E91-2995C4660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99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A6E-F0C5-D46B-1BE9-F29C643E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BC31A-C0CD-4F81-F78C-801E00FCA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7B2EE-9A0B-0E26-D718-1BF237A7B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host_vars/c8kv-1.yml. A host file is more specific than a group file, so its value wins for that host only.</a:t>
            </a:r>
          </a:p>
          <a:p>
            <a:r>
              <a:rPr lang="en-US" sz="1400" dirty="0"/>
              <a:t>Reinforce the precedence rule: host beats group, and the other hosts keep the group value.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A284-A48E-F168-B72D-615329603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88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F062-7315-7F36-4098-3DF38E0F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19D3A-C456-F006-E696-6911D0263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85A98-B218-E7EF-32AA-7A1218F0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two: templates turn variables into real configuration text.</a:t>
            </a:r>
          </a:p>
          <a:p>
            <a:r>
              <a:rPr lang="en-US" sz="1400" dirty="0"/>
              <a:t>This is the moment automation starts to feel powerful - one template plus data generates correct config for every device.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C920-7DAC-E71A-86EA-47A96588D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65F0-4BF6-885D-D524-684A9BCC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906B2-FF92-7590-D05B-D4AEE25A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D92B7-79C1-B043-F97B-E77E4428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Introduce Jinja2 by analogy: it is mail-merge for network configs. You write the letter once with blanks, and the data fills the blanks.</a:t>
            </a:r>
          </a:p>
          <a:p>
            <a:r>
              <a:rPr lang="en-US" sz="1400" dirty="0"/>
              <a:t>It is already part of Ansible - nothing extra to install.</a:t>
            </a:r>
          </a:p>
          <a:p>
            <a:r>
              <a:rPr lang="en-US" sz="1400" dirty="0"/>
              <a:t>The output is plain text, so it works for IOS config, hosts files, or any text artifact.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43EF2-2727-B18D-131A-9408DF9FF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01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3460-8326-86F1-8117-FA00B9D7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53A77-468F-9D5C-E347-A5CFE2B6F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2E5A-F3B5-A1FD-42BD-0615CA07A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The template module is the practical tool. Point out it is like the copy module but it renders Jinja2 first.</a:t>
            </a:r>
          </a:p>
          <a:p>
            <a:r>
              <a:rPr lang="en-US" sz="1400" dirty="0"/>
              <a:t>Stress idempotency again: if the rendered output matches what is already there, nothing is written and the task reports ok.</a:t>
            </a:r>
          </a:p>
          <a:p>
            <a:r>
              <a:rPr lang="en-US" sz="1400" dirty="0"/>
              <a:t>In Lab 4 they render a template on the control node, then push the result to the routers.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D380E-93E6-9DF5-DFC0-6D45DFB22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3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8D78-3F33-0591-3407-B5C7B222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F8365-F569-E745-944F-2E48D36A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7CF5B-AF18-7751-916C-765CA67F0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Expressions are the blanks in the template. The double-brace syntax is the one piece of Jinja2 everyone must know.</a:t>
            </a:r>
          </a:p>
          <a:p>
            <a:r>
              <a:rPr lang="en-US" sz="1400" dirty="0"/>
              <a:t>Show how a template line mixes literal IOS keywords with braced variables to produce a real command.</a:t>
            </a:r>
          </a:p>
          <a:p>
            <a:r>
              <a:rPr lang="en-US" sz="1400" dirty="0"/>
              <a:t>Advise restraint: heavy logic belongs in variables or tasks, not buried in a template.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81AF-1842-4F55-7378-E55A8737E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4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E699-4753-D8D0-9A99-7CB2FDDB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CBA30-981E-E9DC-726F-F6A76A969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2C651-BDB0-CA2D-46E3-37A8DCE4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Filters are small transformations applied with a pipe. They keep templates clean by doing formatting inline.</a:t>
            </a:r>
          </a:p>
          <a:p>
            <a:r>
              <a:rPr lang="en-US" sz="1400" dirty="0"/>
              <a:t>The default filter is the most useful safety net - it prevents an undefined-variable error by supplying a fallback.</a:t>
            </a:r>
          </a:p>
          <a:p>
            <a:r>
              <a:rPr lang="en-US" sz="1400" dirty="0"/>
              <a:t>join is handy for turning a list of values into a comma-separated string in one 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D6773-8BBB-A77A-840B-924B3377A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0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Loops are what make templates scale. Instead of writing ten interface blocks, you write one and loop over a list.</a:t>
            </a:r>
          </a:p>
          <a:p>
            <a:r>
              <a:rPr lang="en-US" sz="1400" dirty="0"/>
              <a:t>Give the mental model: the template author writes the pattern once; the data decides how many times it repeats.</a:t>
            </a:r>
          </a:p>
          <a:p>
            <a:r>
              <a:rPr lang="en-US" sz="1400" dirty="0"/>
              <a:t>This pairs directly with the list-of-dictionaries shape from Day 1 - loop over a list of interface dictionaries.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Conditionals let a single template serve devices that need slightly different config.</a:t>
            </a:r>
          </a:p>
          <a:p>
            <a:r>
              <a:rPr lang="en-US" sz="1400" dirty="0"/>
              <a:t>Example: include an OSPF block only when a variable marks the device as a routing node.</a:t>
            </a:r>
          </a:p>
          <a:p>
            <a:r>
              <a:rPr lang="en-US" sz="1400" dirty="0"/>
              <a:t>Warn against over-nesting - a few conditions are fine, but deeply nested logic becomes unreadable fast.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This slide ties the section together into the real workflow they will run in Lab 4.</a:t>
            </a:r>
          </a:p>
          <a:p>
            <a:r>
              <a:rPr lang="en-US" sz="1400" dirty="0"/>
              <a:t>The pattern: one template plus per-device data equals a correct, unique config for every router.</a:t>
            </a:r>
          </a:p>
          <a:p>
            <a:r>
              <a:rPr lang="en-US" sz="1400" dirty="0"/>
              <a:t>This is exactly how large networks stay consistent - the template is the single source of truth for structure.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0376-1611-7B57-5194-31E2DC2A0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C2003-B75D-FA30-5DA8-A230B0E3D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EA89F-7850-A14E-0B45-073713D5F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the templating workflow.</a:t>
            </a:r>
          </a:p>
          <a:p>
            <a:r>
              <a:rPr lang="en-US" sz="1400" dirty="0"/>
              <a:t>Prompt: which module is like copy but processes Jinja2 first?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E834B-758F-335D-4FDA-40D93149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59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DF96-35D3-054B-FAD0-B1C72F59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A41F4-9134-A6E2-7985-0AB2F0FF9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D5693-14FB-75DC-3977-97923C06B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template. It renders the Jinja2 source, then places the output on the target.</a:t>
            </a:r>
          </a:p>
          <a:p>
            <a:r>
              <a:rPr lang="en-US" sz="1400" dirty="0"/>
              <a:t>copy moves a file unchanged; template renders it first, which is the key difference.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2192C-CF92-4C34-5E55-FBD1DCBDE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10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5BAE-208F-DBB5-B6B6-14BB4937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54B6B-B3C1-3313-B25A-F115AF39A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16C90-D07C-7F05-7E75-553C70CC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three: control flow inside playbooks themselves, separate from templates.</a:t>
            </a:r>
          </a:p>
          <a:p>
            <a:r>
              <a:rPr lang="en-US" sz="1400" dirty="0"/>
              <a:t>These features let one playbook adapt its behavior per device and run expensive actions only when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284E9-7908-B32D-CB2E-C5C14DF18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79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Task loops are the playbook-level cousin of Jinja2 loops. Here the loop repeats a whole task, not a line of text.</a:t>
            </a:r>
          </a:p>
          <a:p>
            <a:r>
              <a:rPr lang="en-US" sz="1400" dirty="0"/>
              <a:t>Give a use case: create ten VLANs by looping one ios_vlans task over a list.</a:t>
            </a:r>
          </a:p>
          <a:p>
            <a:r>
              <a:rPr lang="en-US" sz="1400" dirty="0"/>
              <a:t>Mention that older playbooks use with_items; loop is the modern, preferred keyword.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when is how a playbook makes decisions. It reads a fact or a registered result and chooses whether to run a task.</a:t>
            </a:r>
          </a:p>
          <a:p>
            <a:r>
              <a:rPr lang="en-US" sz="1400" dirty="0"/>
              <a:t>Connect to the register slide: register a check, then use when to act only if the result requires it.</a:t>
            </a:r>
          </a:p>
          <a:p>
            <a:r>
              <a:rPr lang="en-US" sz="1400" dirty="0"/>
              <a:t>Point out that skipped tasks are normal and healthy - they appear in the recap under skipped.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Combining the two is common: iterate a list but act on only some items.</a:t>
            </a:r>
          </a:p>
          <a:p>
            <a:r>
              <a:rPr lang="en-US" sz="1400" dirty="0"/>
              <a:t>The enabled-interfaces example makes it concrete - loop all interfaces, but the when clause skips the disabled ones.</a:t>
            </a:r>
          </a:p>
          <a:p>
            <a:r>
              <a:rPr lang="en-US" sz="1400" dirty="0"/>
              <a:t>Caution: if the logic gets hairy, it is a sign to move it into the data or a template instead.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Handlers solve a real problem: do something costly only when it is actually needed.</a:t>
            </a:r>
          </a:p>
          <a:p>
            <a:r>
              <a:rPr lang="en-US" sz="1400" dirty="0"/>
              <a:t>The canonical example is saving the running config to startup - you only want that when a task actually changed the config.</a:t>
            </a:r>
          </a:p>
          <a:p>
            <a:r>
              <a:rPr lang="en-US" sz="1400" dirty="0"/>
              <a:t>Emphasize the mechanics: many tasks can notify a handler, but it still runs just once, after all tasks finish.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AD0B-1336-AE6E-99B8-BDF8416E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8E85-459E-FDCC-ECF8-BC710C010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76983-F4BE-AFF8-B853-EDB74D6F4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handlers.</a:t>
            </a:r>
          </a:p>
          <a:p>
            <a:r>
              <a:rPr lang="en-US" sz="1400" dirty="0"/>
              <a:t>Prompt: what has to happen for a handler to fire?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CEC4F-D8B8-C2E3-EE5B-E8E999CE2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47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D60B-BB41-9B8F-A33C-14F2DE5F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99663-65F9-B69A-6AE4-F4F641FB3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51A35-3297-B614-13D7-21BAF894D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B - only when a notifying task actually changed something. No change means no notification, so the handler is skipped.</a:t>
            </a:r>
          </a:p>
          <a:p>
            <a:r>
              <a:rPr lang="en-US" sz="1400" dirty="0"/>
              <a:t>This is why handlers are perfect for save-on-change: they do not run on an idempotent no-op run.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DE6A4-E5A7-0F47-53DC-2C33FC6C2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47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four: roles are how you package automation so it can be reused and shared.</a:t>
            </a:r>
          </a:p>
          <a:p>
            <a:r>
              <a:rPr lang="en-US" sz="1400" dirty="0"/>
              <a:t>This is the single biggest step from hobby playbooks to professional, maintainable projects.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Frame the problem roles solve: a single giant playbook becomes unmanageable. Roles break it into named, reusable pieces.</a:t>
            </a:r>
          </a:p>
          <a:p>
            <a:r>
              <a:rPr lang="en-US" sz="1400" dirty="0"/>
              <a:t>The standard layout matters because any Ansible user can open a role and immediately know where things are.</a:t>
            </a:r>
          </a:p>
          <a:p>
            <a:r>
              <a:rPr lang="en-US" sz="1400" dirty="0"/>
              <a:t>Roles are also the unit of sharing - most content on Ansible Galaxy is roles.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Walk the directories. Each one has a clear job, and Ansible loads main.yml from each automatically.</a:t>
            </a:r>
          </a:p>
          <a:p>
            <a:r>
              <a:rPr lang="en-US" sz="1400" dirty="0"/>
              <a:t>defaults versus vars is the precedence point from earlier: defaults are weak and meant to be overridden; vars are stronger.</a:t>
            </a:r>
          </a:p>
          <a:p>
            <a:r>
              <a:rPr lang="en-US" sz="1400" dirty="0"/>
              <a:t>meta is where you declare that this role depends on another, so Ansible runs them in the right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Show the one command that creates the whole skeleton - students do not build the folders by hand.</a:t>
            </a:r>
          </a:p>
          <a:p>
            <a:r>
              <a:rPr lang="en-US" sz="1400" dirty="0"/>
              <a:t>The design advice matters: a role should do one thing well. A base_config role, a vlans role, an ntp role, and so on.</a:t>
            </a:r>
          </a:p>
          <a:p>
            <a:r>
              <a:rPr lang="en-US" sz="1400" dirty="0"/>
              <a:t>This is exactly what Lab 5 has them do - scaffold a role and move existing work into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Reinforce precedence in the role context. Put the values you expect people to change in defaults.</a:t>
            </a:r>
          </a:p>
          <a:p>
            <a:r>
              <a:rPr lang="en-US" sz="1400" dirty="0"/>
              <a:t>A well-written role ships with defaults that work out of the box, so a new user can run it with zero configuration.</a:t>
            </a:r>
          </a:p>
          <a:p>
            <a:r>
              <a:rPr lang="en-US" sz="1400" dirty="0"/>
              <a:t>Documentation is part of the job: list the variables a role reads so others can use it safely.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Show how thin the playbook becomes: a hosts line and a short list of roles.</a:t>
            </a:r>
          </a:p>
          <a:p>
            <a:r>
              <a:rPr lang="en-US" sz="1400" dirty="0"/>
              <a:t>The order in the roles list is the order they run, so dependencies and sequencing still matter.</a:t>
            </a:r>
          </a:p>
          <a:p>
            <a:r>
              <a:rPr lang="en-US" sz="1400" dirty="0"/>
              <a:t>This is the payoff - a readable top-level playbook that composes reusable roles.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Galaxy is the ecosystem for roles, just as it is for collections.</a:t>
            </a:r>
          </a:p>
          <a:p>
            <a:r>
              <a:rPr lang="en-US" sz="1400" dirty="0"/>
              <a:t>The reuse message: someone has probably already written a solid NTP or SNMP role - install and review rather than starting from scratch.</a:t>
            </a:r>
          </a:p>
          <a:p>
            <a:r>
              <a:rPr lang="en-US" sz="1400" dirty="0"/>
              <a:t>Security reminder: a role runs code against your devices, so read it before trusting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roles.</a:t>
            </a:r>
          </a:p>
          <a:p>
            <a:r>
              <a:rPr lang="en-US" sz="1400" dirty="0"/>
              <a:t>Prompt: the scaffolding tool is part of ansible-galaxy.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ansible-galaxy init base_config. It creates the full standard role layout.</a:t>
            </a:r>
          </a:p>
          <a:p>
            <a:r>
              <a:rPr lang="en-US" sz="1400" dirty="0"/>
              <a:t>The collection install command manages collections, not roles, and the others are not real commands.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five: real automation needs credentials, and credentials must never sit in plain text.</a:t>
            </a:r>
          </a:p>
          <a:p>
            <a:r>
              <a:rPr lang="en-US" sz="1400" dirty="0"/>
              <a:t>Vault is Ansible's built-in answer for keeping secrets encrypted while still automating with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Make the risk vivid: a password pushed to a Git repo is effectively public and permanent in history.</a:t>
            </a:r>
          </a:p>
          <a:p>
            <a:r>
              <a:rPr lang="en-US" sz="1400" dirty="0"/>
              <a:t>Vault lets you keep secrets in the same repo as your playbooks, but encrypted so they are useless if leaked.</a:t>
            </a:r>
          </a:p>
          <a:p>
            <a:r>
              <a:rPr lang="en-US" sz="1400" dirty="0"/>
              <a:t>This is a non-negotiable practice in any real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Cover the everyday commands. edit is the important one - it lets you change a secret without ever leaving a plain-text copy on disk.</a:t>
            </a:r>
          </a:p>
          <a:p>
            <a:r>
              <a:rPr lang="en-US" sz="1400" dirty="0"/>
              <a:t>Stress that the vault password is the one thing that must be protected; lose it and the data is gone.</a:t>
            </a:r>
          </a:p>
          <a:p>
            <a:r>
              <a:rPr lang="en-US" sz="1400" dirty="0"/>
              <a:t>In Lab 6 they encrypt a credentials file and confirm it is unreadable.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Sometimes you only need to hide one value in an otherwise readable file - that is what encrypt_string is for.</a:t>
            </a:r>
          </a:p>
          <a:p>
            <a:r>
              <a:rPr lang="en-US" sz="1400" dirty="0"/>
              <a:t>The output is a blob you drop straight into YAML next to your normal variables.</a:t>
            </a:r>
          </a:p>
          <a:p>
            <a:r>
              <a:rPr lang="en-US" sz="1400" dirty="0"/>
              <a:t>This keeps diffs readable while still protecting the sensitive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Explain how a playbook actually uses encrypted data: Ansible decrypts it in memory only while running.</a:t>
            </a:r>
          </a:p>
          <a:p>
            <a:r>
              <a:rPr lang="en-US" sz="1400" dirty="0"/>
              <a:t>For interactive use, --ask-vault-pass prompts you; for automation, a password file or a secret manager supplies it.</a:t>
            </a:r>
          </a:p>
          <a:p>
            <a:r>
              <a:rPr lang="en-US" sz="1400" dirty="0"/>
              <a:t>Vault IDs let a project use different passwords for different environments, like dev and prod.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Turn the mechanics into habits. Separate vault files keep encrypted and plain data cleanly divided.</a:t>
            </a:r>
          </a:p>
          <a:p>
            <a:r>
              <a:rPr lang="en-US" sz="1400" dirty="0"/>
              <a:t>no_log on a task prevents a secret from leaking into logs or verbose output - a common accidental exposure.</a:t>
            </a:r>
          </a:p>
          <a:p>
            <a:r>
              <a:rPr lang="en-US" sz="1400" dirty="0"/>
              <a:t>Rotation and access control are process, not tooling, but they are what actually keeps secrets safe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six: the features that keep playbooks manageable and safe as they grow to hundreds of devices.</a:t>
            </a:r>
          </a:p>
          <a:p>
            <a:r>
              <a:rPr lang="en-US" sz="1400" dirty="0"/>
              <a:t>These are the finishing touches that separate a demo from a production change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Tags give you a scalpel instead of a sledgehammer - run just the VLAN tasks without touching everything else.</a:t>
            </a:r>
          </a:p>
          <a:p>
            <a:r>
              <a:rPr lang="en-US" sz="1400" dirty="0"/>
              <a:t>This is invaluable during development and during targeted change windows.</a:t>
            </a:r>
          </a:p>
          <a:p>
            <a:r>
              <a:rPr lang="en-US" sz="1400" dirty="0"/>
              <a:t>It is also the answer to the section's quiz, so make sure the concept lands.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Blocks are like try/rescue/finally for playbooks. Group tasks, then handle failure for the whole group in one place.</a:t>
            </a:r>
          </a:p>
          <a:p>
            <a:r>
              <a:rPr lang="en-US" sz="1400" dirty="0"/>
              <a:t>rescue is where you put cleanup or rollback steps if a change goes wrong.</a:t>
            </a:r>
          </a:p>
          <a:p>
            <a:r>
              <a:rPr lang="en-US" sz="1400" dirty="0"/>
              <a:t>always is for things you must do regardless, like re-enabling something you disabled.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Sometimes a non-zero result is not really a failure, and sometimes success is not really a change. These keywords give you control.</a:t>
            </a:r>
          </a:p>
          <a:p>
            <a:r>
              <a:rPr lang="en-US" sz="1400" dirty="0"/>
              <a:t>failed_when is powerful: you decide the condition, rather than accepting the module's default.</a:t>
            </a:r>
          </a:p>
          <a:p>
            <a:r>
              <a:rPr lang="en-US" sz="1400" dirty="0"/>
              <a:t>Callback to Day 1: changed_when false is how you stop a show command from always reporting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serial is the safety valve for big fleets: change five devices, verify, then continue, instead of hitting all five hundred at once.</a:t>
            </a:r>
          </a:p>
          <a:p>
            <a:r>
              <a:rPr lang="en-US" sz="1400" dirty="0"/>
              <a:t>This turns a risky mass change into a controlled, cancellable rollout.</a:t>
            </a:r>
          </a:p>
          <a:p>
            <a:r>
              <a:rPr lang="en-US" sz="1400" dirty="0"/>
              <a:t>throttle is about protecting the control node from doing too much work in parallel.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Section seven: three labs that apply everything from today against the live routers.</a:t>
            </a:r>
          </a:p>
          <a:p>
            <a:r>
              <a:rPr lang="en-US" sz="1400" dirty="0"/>
              <a:t>Reset expectations on cost and boot time before students dive 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Quick logistics slide. Most issues at the start of Day 2 are simply routers that were left stopped or are still booting.</a:t>
            </a:r>
          </a:p>
          <a:p>
            <a:r>
              <a:rPr lang="en-US" sz="1400" dirty="0"/>
              <a:t>Have them start the instances first thing so the boot time overlaps with this lecture.</a:t>
            </a:r>
          </a:p>
          <a:p>
            <a:r>
              <a:rPr lang="en-US" sz="1400" dirty="0"/>
              <a:t>Repeat the cost discipline: stop the routers at the end of the session.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4 turns the morning's theory into a working template pipeline.</a:t>
            </a:r>
          </a:p>
          <a:p>
            <a:r>
              <a:rPr lang="en-US" sz="1400" dirty="0"/>
              <a:t>The key learning moment is seeing one template produce two different configs purely from the host_vars data.</a:t>
            </a:r>
          </a:p>
          <a:p>
            <a:r>
              <a:rPr lang="en-US" sz="1400" dirty="0"/>
              <a:t>Common snag: a variable defined in the wrong scope. Point them back to the precedence slide if values do not appear as expected.</a:t>
            </a:r>
          </a:p>
          <a:p>
            <a:r>
              <a:rPr lang="en-US" sz="1400" dirty="0"/>
              <a:t>Encourage them to render to a file first and inspect it before pushing to the device.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5 is a refactor: take the working playbook from Lab 4 and reorganize it into a role.</a:t>
            </a:r>
          </a:p>
          <a:p>
            <a:r>
              <a:rPr lang="en-US" sz="1400" dirty="0"/>
              <a:t>The payoff moment is the tiny top-level playbook - just hosts and one role - doing the same work as before.</a:t>
            </a:r>
          </a:p>
          <a:p>
            <a:r>
              <a:rPr lang="en-US" sz="1400" dirty="0"/>
              <a:t>The override step proves the defaults mechanism: one router gets a different value without changing the role.</a:t>
            </a:r>
          </a:p>
          <a:p>
            <a:r>
              <a:rPr lang="en-US" sz="1400" dirty="0"/>
              <a:t>Stress that the behavior should be identical - roles change structure, not outcome.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Lab 6 closes the day by securing the credentials the earlier labs used.</a:t>
            </a:r>
          </a:p>
          <a:p>
            <a:r>
              <a:rPr lang="en-US" sz="1400" dirty="0"/>
              <a:t>The satisfying check is opening the encrypted file and seeing scrambled text, then running the playbook and watching it still work.</a:t>
            </a:r>
          </a:p>
          <a:p>
            <a:r>
              <a:rPr lang="en-US" sz="1400" dirty="0"/>
              <a:t>Have them try running without the vault password to see the failure - it drives home that the data is truly protected.</a:t>
            </a:r>
          </a:p>
          <a:p>
            <a:r>
              <a:rPr lang="en-US" sz="1400" dirty="0"/>
              <a:t>Reinforce no_log so secrets do not leak into verbose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Knowledge check on scalable playbooks.</a:t>
            </a:r>
          </a:p>
          <a:p>
            <a:r>
              <a:rPr lang="en-US" sz="1400" dirty="0"/>
              <a:t>Prompt: which feature is designed to run a subset of tasks?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Answer: C - tag the tasks and run with --tags. It runs exactly the tasks you want without editing the playbook.</a:t>
            </a:r>
          </a:p>
          <a:p>
            <a:r>
              <a:rPr lang="en-US" sz="1400" dirty="0"/>
              <a:t>Commenting out or splitting files is fragile; check mode previews changes but still targets everything.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0FB6-98D5-9E87-79E3-FE66B99A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A7F7-A548-D3D0-A866-45AD5F35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40A2E-3DF0-5A4C-5D6E-C126CE5E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Tie the day together around one theme: moving from writing playbooks to engineering automation that scales and is secure.</a:t>
            </a:r>
          </a:p>
          <a:p>
            <a:r>
              <a:rPr lang="en-US" sz="1400" dirty="0"/>
              <a:t>Check understanding: ask someone to explain the difference between a variable and a fact, or when a handler runs.</a:t>
            </a:r>
          </a:p>
          <a:p>
            <a:r>
              <a:rPr lang="en-US" sz="1400" dirty="0"/>
              <a:t>Preview Day 3: we drop from Ansible's declarative model into Python for cases that need full programmatic control.</a:t>
            </a:r>
          </a:p>
          <a:p>
            <a:r>
              <a:rPr lang="en-US" sz="1400" dirty="0"/>
              <a:t>Final reminder: stop the router instances before leaving.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9145-6F05-BA6A-7DB7-03583714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426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F7DB-31D1-A897-A85C-9D91DB6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48115-791F-14C4-4B89-B2326F0C7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19C78-F6CD-E2F6-B10E-7B5C1C2F2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Point students to where they can deepen today's skills on their own.</a:t>
            </a:r>
          </a:p>
          <a:p>
            <a:r>
              <a:rPr lang="en-US" sz="1400" dirty="0"/>
              <a:t>The best practice exercise is converting one of yesterday's playbooks into a role - it consolidates everything from the roles section.</a:t>
            </a:r>
          </a:p>
          <a:p>
            <a:r>
              <a:rPr lang="en-US" sz="1400" dirty="0"/>
              <a:t>Set up Day 3: Python gives fine-grained control that complements, rather than replaces, Ansible.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D6A01-7FAD-3684-E130-BF3E2D47C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03921-7077-42B0-8C81-48C0A93EA22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6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103632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00600"/>
            <a:ext cx="9144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9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4672-C582-6331-2735-177B704D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E7E4C-4357-59C7-6D2B-68C2BE69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2CA29-9EAF-27A8-CE45-33AB680F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D78A4-37DB-0CE7-3438-963BC2F2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68B64C-4C01-CCB3-9D6C-A67B39D5F264}"/>
              </a:ext>
            </a:extLst>
          </p:cNvPr>
          <p:cNvCxnSpPr>
            <a:cxnSpLocks/>
          </p:cNvCxnSpPr>
          <p:nvPr userDrawn="1"/>
        </p:nvCxnSpPr>
        <p:spPr>
          <a:xfrm>
            <a:off x="7150100" y="2108200"/>
            <a:ext cx="0" cy="37846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21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8013405" cy="72978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302" y="6574155"/>
            <a:ext cx="4572000" cy="28384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2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04828" y="152718"/>
            <a:ext cx="6427971" cy="814845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6394027" y="1300130"/>
            <a:ext cx="4514978" cy="47226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331458"/>
            <a:ext cx="1049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LAB: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6822558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CA" sz="1050" b="1"/>
              <a:t>Practice makes perfect.</a:t>
            </a:r>
            <a:endParaRPr lang="en-US" sz="1050" b="1"/>
          </a:p>
        </p:txBody>
      </p:sp>
      <p:sp>
        <p:nvSpPr>
          <p:cNvPr id="9" name="Rectangle 8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774843" y="5050793"/>
            <a:ext cx="788399" cy="8366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3" r="22687"/>
          <a:stretch/>
        </p:blipFill>
        <p:spPr>
          <a:xfrm>
            <a:off x="2172782" y="1300130"/>
            <a:ext cx="4012234" cy="4722628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583496" y="5887647"/>
            <a:ext cx="1168536" cy="249539"/>
          </a:xfrm>
        </p:spPr>
        <p:txBody>
          <a:bodyPr>
            <a:noAutofit/>
          </a:bodyPr>
          <a:lstStyle>
            <a:lvl1pPr>
              <a:defRPr sz="1400">
                <a:solidFill>
                  <a:srgbClr val="FF0000"/>
                </a:solidFill>
                <a:latin typeface="Arial Black (Headings)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713" y="152718"/>
            <a:ext cx="1913061" cy="523220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/>
              <a:t>LABS AT THE BACK OF THE BOOK</a:t>
            </a:r>
          </a:p>
        </p:txBody>
      </p:sp>
    </p:spTree>
    <p:extLst>
      <p:ext uri="{BB962C8B-B14F-4D97-AF65-F5344CB8AC3E}">
        <p14:creationId xmlns:p14="http://schemas.microsoft.com/office/powerpoint/2010/main" val="29805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1"/>
            <a:ext cx="103632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8601"/>
            <a:ext cx="103632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78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1574800"/>
            <a:ext cx="438912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6567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67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424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6880" y="3734602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217424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786880" y="1251284"/>
            <a:ext cx="4389120" cy="23661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949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65580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663350" y="1541284"/>
            <a:ext cx="0" cy="4443979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254366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267200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1821843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7"/>
          </p:nvPr>
        </p:nvSpPr>
        <p:spPr>
          <a:xfrm>
            <a:off x="1834677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8"/>
          </p:nvPr>
        </p:nvSpPr>
        <p:spPr>
          <a:xfrm>
            <a:off x="9195864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9"/>
          </p:nvPr>
        </p:nvSpPr>
        <p:spPr>
          <a:xfrm>
            <a:off x="9208698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20"/>
          </p:nvPr>
        </p:nvSpPr>
        <p:spPr>
          <a:xfrm>
            <a:off x="6763341" y="1251284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1"/>
          </p:nvPr>
        </p:nvSpPr>
        <p:spPr>
          <a:xfrm>
            <a:off x="6776175" y="3734601"/>
            <a:ext cx="2308994" cy="23661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9709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176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176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90944" y="1572768"/>
            <a:ext cx="438912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2259366"/>
            <a:ext cx="438912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8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7CF1EF6-33F6-4484-B873-110506412060}"/>
              </a:ext>
            </a:extLst>
          </p:cNvPr>
          <p:cNvSpPr/>
          <p:nvPr/>
        </p:nvSpPr>
        <p:spPr>
          <a:xfrm>
            <a:off x="10015040" y="4042913"/>
            <a:ext cx="1991430" cy="282083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47924" y="240889"/>
            <a:ext cx="7738364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 err="1"/>
              <a:t>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46067" y="5015134"/>
            <a:ext cx="1906548" cy="790130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938" y="1401845"/>
            <a:ext cx="10539125" cy="19980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© 2025 by Innovation In Software Corporation 
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2266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POP QUIZ: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10572882" y="4681721"/>
            <a:ext cx="788399" cy="836668"/>
          </a:xfrm>
          <a:prstGeom prst="rect">
            <a:avLst/>
          </a:prstGeom>
        </p:spPr>
      </p:pic>
      <p:pic>
        <p:nvPicPr>
          <p:cNvPr id="16" name="Picture 15" descr="A group of people in a room  Description automatically generated">
            <a:extLst>
              <a:ext uri="{FF2B5EF4-FFF2-40B4-BE49-F238E27FC236}">
                <a16:creationId xmlns:a16="http://schemas.microsoft.com/office/drawing/2014/main" id="{093CB388-AB25-4294-97A6-9EB9568DD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618"/>
          <a:stretch/>
        </p:blipFill>
        <p:spPr>
          <a:xfrm>
            <a:off x="0" y="4037162"/>
            <a:ext cx="10029645" cy="28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6258" y="240889"/>
            <a:ext cx="6540030" cy="77438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defRPr>
            </a:lvl1pPr>
          </a:lstStyle>
          <a:p>
            <a:r>
              <a:rPr lang="en-US"/>
              <a:t>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511" y="5269246"/>
            <a:ext cx="3296044" cy="470196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100" baseline="0">
                <a:solidFill>
                  <a:srgbClr val="C00000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5 Minutes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90944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939" y="349776"/>
            <a:ext cx="3505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C00000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CONVERSATION:</a:t>
            </a:r>
            <a:endParaRPr lang="en-US" b="1">
              <a:solidFill>
                <a:srgbClr val="C00000"/>
              </a:solidFill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006470" y="1300130"/>
            <a:ext cx="185530" cy="55578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38542" t="36852" r="56354" b="53518"/>
          <a:stretch/>
        </p:blipFill>
        <p:spPr>
          <a:xfrm>
            <a:off x="555372" y="4791464"/>
            <a:ext cx="592054" cy="628302"/>
          </a:xfrm>
          <a:prstGeom prst="rect">
            <a:avLst/>
          </a:prstGeom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1AFE448-9478-4921-9428-9E4F23B14C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0071" y="1401844"/>
            <a:ext cx="4389120" cy="46980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31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1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6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0"/>
            <a:ext cx="6815667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0"/>
            <a:ext cx="4011084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8057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01499" y="4846320"/>
            <a:ext cx="190501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106680"/>
            <a:ext cx="12001169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715000"/>
            <a:ext cx="108712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4953000"/>
            <a:ext cx="108712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499" y="0"/>
            <a:ext cx="190501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05489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0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02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12928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>
                <a:solidFill>
                  <a:srgbClr val="FFFF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0" y="0"/>
            <a:ext cx="2648049" cy="174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9846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5003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5681" y="87414"/>
            <a:ext cx="7762858" cy="940441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rgbClr val="33CC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1713655"/>
            <a:ext cx="4480560" cy="4458545"/>
          </a:xfrm>
        </p:spPr>
        <p:txBody>
          <a:bodyPr/>
          <a:lstStyle>
            <a:lvl1pPr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 sz="1400"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85000"/>
                  </a:schemeClr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1713655"/>
            <a:ext cx="4480560" cy="4458545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14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>
              <a:defRPr sz="11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8440" y="6385465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4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0146" y="158723"/>
            <a:ext cx="1093170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2026 by Innovation In Software Corporation 
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7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4445552"/>
            <a:ext cx="9144000" cy="1345648"/>
          </a:xfrm>
          <a:prstGeom prst="rect">
            <a:avLst/>
          </a:prstGeom>
        </p:spPr>
        <p:txBody>
          <a:bodyPr lIns="18288" tIns="18288" rIns="18288" bIns="18288" anchor="b">
            <a:norm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lang="en-US" sz="3200" b="1" dirty="0" smtClean="0">
                <a:solidFill>
                  <a:schemeClr val="accent2"/>
                </a:solidFill>
                <a:effectLst/>
                <a:latin typeface="+mj-lt"/>
                <a:ea typeface="+mj-ea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5791200"/>
            <a:ext cx="9144000" cy="838200"/>
          </a:xfrm>
          <a:prstGeom prst="rect">
            <a:avLst/>
          </a:prstGeom>
        </p:spPr>
        <p:txBody>
          <a:bodyPr lIns="18288" tIns="18288" rIns="18288" bIns="18288">
            <a:normAutofit/>
          </a:bodyPr>
          <a:lstStyle>
            <a:lvl1pPr marL="0" indent="0" algn="l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C4170-713D-D94E-AB6C-265619E54E10}"/>
              </a:ext>
            </a:extLst>
          </p:cNvPr>
          <p:cNvSpPr/>
          <p:nvPr/>
        </p:nvSpPr>
        <p:spPr>
          <a:xfrm>
            <a:off x="11990440" y="2702460"/>
            <a:ext cx="218423" cy="41555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61EA2-9589-AE43-AAD1-CC4D320E0C2B}"/>
              </a:ext>
            </a:extLst>
          </p:cNvPr>
          <p:cNvSpPr/>
          <p:nvPr/>
        </p:nvSpPr>
        <p:spPr>
          <a:xfrm>
            <a:off x="11990440" y="1"/>
            <a:ext cx="218423" cy="2702856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9A9A0-292A-AA4D-B4EF-4FA2CF840E8C}"/>
              </a:ext>
            </a:extLst>
          </p:cNvPr>
          <p:cNvSpPr txBox="1">
            <a:spLocks/>
          </p:cNvSpPr>
          <p:nvPr/>
        </p:nvSpPr>
        <p:spPr>
          <a:xfrm rot="16200000">
            <a:off x="11469837" y="6720605"/>
            <a:ext cx="7642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9624C5-FDF6-4954-B8C3-64918F306FAA}" type="slidenum">
              <a:rPr lang="en-US" b="1" smtClean="0">
                <a:solidFill>
                  <a:srgbClr val="C00000"/>
                </a:solidFill>
              </a:rPr>
              <a:pPr/>
              <a:t>‹#›</a:t>
            </a:fld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" name="Footer Placeholder 12">
            <a:extLst>
              <a:ext uri="{FF2B5EF4-FFF2-40B4-BE49-F238E27FC236}">
                <a16:creationId xmlns:a16="http://schemas.microsoft.com/office/drawing/2014/main" id="{E39E059B-4447-E24C-B339-29B4256C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86" y="6456680"/>
            <a:ext cx="3849914" cy="401320"/>
          </a:xfrm>
        </p:spPr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© 2026 by Innovation In Software Corporation 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5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718"/>
            <a:ext cx="77216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16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172201"/>
            <a:ext cx="4572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92876"/>
            <a:ext cx="4572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CA" dirty="0"/>
              <a:t>© 2026 by Innovation In Software Corporation 
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11189124" y="5824644"/>
            <a:ext cx="131572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99624C5-FDF6-4954-B8C3-64918F306FA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01499" y="0"/>
            <a:ext cx="190501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2001499" y="1371600"/>
            <a:ext cx="190501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112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4" r:id="rId2"/>
    <p:sldLayoutId id="2147483666" r:id="rId3"/>
    <p:sldLayoutId id="2147483676" r:id="rId4"/>
    <p:sldLayoutId id="2147483667" r:id="rId5"/>
    <p:sldLayoutId id="2147483668" r:id="rId6"/>
    <p:sldLayoutId id="2147483678" r:id="rId7"/>
    <p:sldLayoutId id="2147483679" r:id="rId8"/>
    <p:sldLayoutId id="2147483669" r:id="rId9"/>
    <p:sldLayoutId id="2147483677" r:id="rId10"/>
    <p:sldLayoutId id="2147483680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60" r:id="rId18"/>
    <p:sldLayoutId id="2147483661" r:id="rId19"/>
    <p:sldLayoutId id="2147483682" r:id="rId20"/>
    <p:sldLayoutId id="2147483683" r:id="rId2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2026 by Innovation In Software Corporation 
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II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42EAD9-E740-F403-3D4A-4DE381C6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AFEC4-625D-FE3A-E420-D85597F9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19"/>
            <a:ext cx="12031684" cy="573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1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98CD-F09D-DE32-BB22-1B44A373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5009-1C65-0966-6C16-0198EA44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3889"/>
            <a:ext cx="10160000" cy="505227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54DFB-F6D9-9E72-0D96-739012D8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88795" y="127591"/>
            <a:ext cx="2603205" cy="340241"/>
          </a:xfrm>
        </p:spPr>
        <p:txBody>
          <a:bodyPr/>
          <a:lstStyle/>
          <a:p>
            <a:r>
              <a:rPr lang="en-US" sz="1100" dirty="0"/>
              <a:t>© 2025 by Innovation In Software Corporation 
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BA6057FA-D0C1-12F8-AAEE-AA1FFB804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7" y="438336"/>
            <a:ext cx="12816625" cy="51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Gadugi"/>
                <a:ea typeface="Calibri"/>
                <a:cs typeface="Leelawadee UI Semilight"/>
              </a:rPr>
              <a:t>Network Automation Tools – Day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EF2DC-0B15-7344-761A-14E9CEEF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 descr="A group of women working on a computer">
            <a:extLst>
              <a:ext uri="{FF2B5EF4-FFF2-40B4-BE49-F238E27FC236}">
                <a16:creationId xmlns:a16="http://schemas.microsoft.com/office/drawing/2014/main" id="{5DB6D44F-5315-1880-EF87-C2D82C519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" r="-312" b="3245"/>
          <a:stretch>
            <a:fillRect/>
          </a:stretch>
        </p:blipFill>
        <p:spPr>
          <a:xfrm>
            <a:off x="0" y="0"/>
            <a:ext cx="12102599" cy="687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Day 1 Left Off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installed Ansible and reached both Catalyst 8000V routers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gathered facts with ios_command and ios_facts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pushed config with ios_config and saw idempotency at work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You learned YAML: scalars, lists, and dictionaries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Today: make playbooks dynamic, reusable, and secure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6865" y="98052"/>
            <a:ext cx="80134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Agenda for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417" y="844226"/>
            <a:ext cx="7337424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Variables and facts - making playbooks dynamic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Jinja2 templates - generating configuration from data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Loops, conditionals, and handlers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Roles - packaging automation for reuse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Ansible Vault - protecting secrets</a:t>
            </a:r>
          </a:p>
          <a:p>
            <a:pPr marL="457200" indent="-457200">
              <a:buFont typeface="+mj-lt"/>
              <a:buAutoNum type="arabicPeriod"/>
            </a:pPr>
            <a:endParaRPr lang="en-CA" sz="2400" dirty="0">
              <a:latin typeface="Nirmala UI Semilight" panose="020B04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latin typeface="Nirmala UI Semilight" panose="020B0402040204020203" pitchFamily="34" charset="0"/>
              </a:rPr>
              <a:t>Scalable playbooks and three hands-on labs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C59D9-863D-D1E6-0302-ABAF2EB1F0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58"/>
          <a:stretch/>
        </p:blipFill>
        <p:spPr>
          <a:xfrm>
            <a:off x="7680840" y="952234"/>
            <a:ext cx="3922728" cy="4953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Variables and Facts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Why Variables Matter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Variables remove hard-coded values from your tasks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playbook can configure many devices with different values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 a value in one place, not in every task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Values come from inventory, files, facts, or the command line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foundation for templates and roles later today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Picture 2" descr="Managing Ansible Facts | techbeatly">
            <a:extLst>
              <a:ext uri="{FF2B5EF4-FFF2-40B4-BE49-F238E27FC236}">
                <a16:creationId xmlns:a16="http://schemas.microsoft.com/office/drawing/2014/main" id="{BF4368C6-12A7-29CF-33EA-7A97AE06D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95" y="2789291"/>
            <a:ext cx="4437270" cy="2495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Where Variables Live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Inventory - values set per host or per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host_vars/ and group_vars/ directories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vars and vars_files inside a playbook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Facts gathered from the device at runtime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Extra vars passed with -e on the command line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Variables And Templates In Ansible - GeeksforGeeks">
            <a:extLst>
              <a:ext uri="{FF2B5EF4-FFF2-40B4-BE49-F238E27FC236}">
                <a16:creationId xmlns:a16="http://schemas.microsoft.com/office/drawing/2014/main" id="{08CE5CE4-6DA3-25B5-7237-EBCC3D15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270" y="2593188"/>
            <a:ext cx="4603844" cy="2361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 err="1">
                <a:latin typeface="Leelawadee UI" panose="020B0502040204020203" pitchFamily="34" charset="-34"/>
              </a:rPr>
              <a:t>host_vars</a:t>
            </a:r>
            <a:r>
              <a:rPr lang="en-US" spc="-5" dirty="0">
                <a:latin typeface="Leelawadee UI" panose="020B0502040204020203" pitchFamily="34" charset="-34"/>
              </a:rPr>
              <a:t> and </a:t>
            </a:r>
            <a:r>
              <a:rPr lang="en-US" spc="-5" dirty="0" err="1">
                <a:latin typeface="Leelawadee UI" panose="020B0502040204020203" pitchFamily="34" charset="-34"/>
              </a:rPr>
              <a:t>group_vars</a:t>
            </a:r>
            <a:endParaRPr lang="en-US" spc="-5" dirty="0">
              <a:latin typeface="Leelawadee UI" panose="020B0502040204020203" pitchFamily="34" charset="-34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auto-loads files named after a host or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group_vars/routers.yml applies to every host in routers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host_vars/c8kv-1.yml applies to just that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Keeps device-specific data out of the playbook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standard way to organize a real inventory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What are group_vars and host_vars in Ansible?">
            <a:extLst>
              <a:ext uri="{FF2B5EF4-FFF2-40B4-BE49-F238E27FC236}">
                <a16:creationId xmlns:a16="http://schemas.microsoft.com/office/drawing/2014/main" id="{D9A888F4-4B00-DF00-21B8-6E0E715C3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696" y="2665576"/>
            <a:ext cx="3384449" cy="2289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Variable Precedence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Many sources can set the same variable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More specific wins: host beats group beats all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Command-line extra vars with -e override almost everything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Role defaults are the weakest and easy to override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When in doubt, keep a variable in one predictable place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Variable precedence in Ansible There are a few major types of variables  that can be defined in a myriad of locations. This leads to a very  important question: what happens when the">
            <a:extLst>
              <a:ext uri="{FF2B5EF4-FFF2-40B4-BE49-F238E27FC236}">
                <a16:creationId xmlns:a16="http://schemas.microsoft.com/office/drawing/2014/main" id="{6CEF6EE0-92AF-D5F7-B4C9-76774BF8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790" y="2091382"/>
            <a:ext cx="4482218" cy="3417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Registering Output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register captures a task's result into a variable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Reuse that output in later tasks or conditions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Access fields like result.stdout or result.rc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with when to act only when needed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bridge between gathering data and making decisions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3CB717-E237-EECD-C71C-E6B415DEC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209" y="2207301"/>
            <a:ext cx="4386010" cy="36663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Facts and set_fact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Facts are data Ansible learns about a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ios_facts populates ansible_net_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set_fact creates your own variable during a run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Facts and set_fact values are available to later tasks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them to make a playbook adapt to each device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Managing Ansible Facts and Creating Ansible Custom Facts">
            <a:extLst>
              <a:ext uri="{FF2B5EF4-FFF2-40B4-BE49-F238E27FC236}">
                <a16:creationId xmlns:a16="http://schemas.microsoft.com/office/drawing/2014/main" id="{A5E808FF-6071-E1FE-330E-B76943641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198" y="2160104"/>
            <a:ext cx="4674674" cy="3565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Magic Variables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inventory_hostname - the current host's inventory name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hostvars - reach another host's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groups - the list of hosts in each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ansible_host - the address Ansible connected to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Built-in and always available - no need to define them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12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Ansible Magic Variables">
            <a:extLst>
              <a:ext uri="{FF2B5EF4-FFF2-40B4-BE49-F238E27FC236}">
                <a16:creationId xmlns:a16="http://schemas.microsoft.com/office/drawing/2014/main" id="{14FE8E39-2867-CF5C-6AF1-5AB61917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58" b="12898"/>
          <a:stretch>
            <a:fillRect/>
          </a:stretch>
        </p:blipFill>
        <p:spPr>
          <a:xfrm>
            <a:off x="7500730" y="2682640"/>
            <a:ext cx="4204897" cy="2303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You want group_vars/routers.yml to apply to both routers but override one value on c8kv-1 only. Where does the override go?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In the playbook's vars section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In host_vars/c8kv-1.yml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In group_vars/all.yml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It cannot be done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You want group_vars/routers.yml to apply to both routers but override one value on c8kv-1 only. Where does the override go?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In the playbook's vars section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 host_vars/c8kv-1.yml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In group_vars/all.yml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It cannot be done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Jinja2 Templating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What Is Jinja2?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templating engine built into Ansible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Fills placeholders in text with variable values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Turns a template plus data into a finished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Same idea as mail-merge, for device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Template files usually end in .j2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Screenshot-2024-07-22-142629">
            <a:extLst>
              <a:ext uri="{FF2B5EF4-FFF2-40B4-BE49-F238E27FC236}">
                <a16:creationId xmlns:a16="http://schemas.microsoft.com/office/drawing/2014/main" id="{4FE216BE-A773-D0D8-4B41-F8249CE6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97" y="2504917"/>
            <a:ext cx="4689197" cy="30676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template Module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template renders a .j2 file and copies the result to a destination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Source lives on the control node; output lands where you choose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Variables come from inventory, facts, and vars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Idempotent - it only writes when the rendered content changes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workhorse for configuration generation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Screenshot-2024-07-22-142629">
            <a:extLst>
              <a:ext uri="{FF2B5EF4-FFF2-40B4-BE49-F238E27FC236}">
                <a16:creationId xmlns:a16="http://schemas.microsoft.com/office/drawing/2014/main" id="{3C9DD3B3-7656-AF06-E5D9-A2D79247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97" y="2504917"/>
            <a:ext cx="4689197" cy="30676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Jinja2 Expressions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Double curly braces insert a variable: hostname is in braces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Access dictionary keys and list items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plain text and variables freely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Apply filters to transform values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logic simple - templates shape text, not business logic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F5D5C7-F931-8B50-C9A3-08BFA5B7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468" y="132079"/>
            <a:ext cx="7365449" cy="63424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Jinja2 Filters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Filters transform a value with a pipe symbol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default - supply a fallback when a variable is unset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join - turn a list into a single string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upper and lower - change case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Chain filters for readable transformations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19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E8A9F-3105-EA47-4CF3-F97216323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480" y="1951372"/>
            <a:ext cx="7369209" cy="3889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Jinja2 Loops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for loops repeat a block for each item in a list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Perfect for interfaces, VLANs, or neighbor lists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Wrapped in for and endfor tags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Generate many similar config lines from one template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Drive the loop with inventory or group data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8D2A-97A4-44EF-BC1A-10C551A3FEB1}" type="slidenum">
              <a:rPr lang="en-US" smtClean="0"/>
              <a:t>20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0DD808-A61F-045C-61D2-43ACD445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94673"/>
            <a:ext cx="8232913" cy="46881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Jinja2 Conditionals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if blocks include text only when a condition holds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Wrapped in if and endif tags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optional config based on a variable or fact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one template that fits many device roles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with loops for compact, powerful templates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F180-C1A1-442D-A126-2CD47CEC8B51}" type="slidenum">
              <a:rPr lang="en-US" smtClean="0"/>
              <a:t>21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4FD27-4BBD-3756-4FAD-B9A985A7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806320"/>
            <a:ext cx="8807462" cy="44648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Generating Device Configs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Write a .j2 template with placeholders and loops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Store per-device values in host_vars and group_vars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Render each config with the template module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 the result with ios_config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One template, consistent configs across the fleet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DA7D-CB4A-4448-A140-FC22774B07C9}" type="slidenum">
              <a:rPr lang="en-US" smtClean="0"/>
              <a:t>22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6AF71-BCF0-9FDB-6D8C-0C43CA9D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38" y="1746885"/>
            <a:ext cx="8081158" cy="4321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Ansible module renders a .j2 file and copies the result to a destination?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copy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ios_command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template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debug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Ansible module renders a .j2 file and copies the result to a destination?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copy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ios_command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template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debug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Loops, Conditionals, and Handlers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Loops in Tasks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loop keyword repeats a task for each item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the current value with the loop variable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 many VLANs or users in one task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Cleaner than copying a task many times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Replaces the older with_items style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A26D5-D7E7-46D0-B8AC-580A4564F7F0}" type="slidenum">
              <a:rPr lang="en-US" smtClean="0"/>
              <a:t>26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F8507-3030-2EE4-3F8D-97A6E7EF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80" y="1902945"/>
            <a:ext cx="8972685" cy="41747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Conditionals with when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when runs a task only if a condition is true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Test facts, registered results, or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Skip tasks that do not apply to a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Skipped tasks show as skipped in the recap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one playbook that adapts per host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CD2B2D-A3AC-8082-E6F5-E79EB229E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737845"/>
            <a:ext cx="8859744" cy="44913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Combining Loops and Conditionals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Loop over a list and filter with when inside the loop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Apply a task only to items that match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Example: configure only interfaces marked enabled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Powerful, but keep it readable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 complex logic into variables or templates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29B1D0-F9A3-EF97-D269-70B7CF04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737845"/>
            <a:ext cx="8740454" cy="449162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Handlers and notify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handler is a task that runs only when notified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Tasks trigger a handler with notify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Handlers run once, at the end of the play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Classic use: save config only if something changed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Keeps expensive actions from running every time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29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D0A692-DF57-37FB-B0EF-A7F5360B3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21" y="1572745"/>
            <a:ext cx="9157477" cy="46423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An Ansible handler runs when?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At the start of every play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Only when a task notifies it and reported a change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Once per task, always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Only in check mode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An Ansible handler runs when?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At the start of every play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Only when a task notifies it and reported a change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Once per task, always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Only in check mode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Roles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Why Roles?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Roles bundle tasks, variables, templates, and handlers together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Turn a long playbook into reusable building blocks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Share roles across projects and teams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standard directory layout everyone recognizes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How real Ansible projects stay maintainable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 descr="Ansible Roles - GeeksforGeeks">
            <a:extLst>
              <a:ext uri="{FF2B5EF4-FFF2-40B4-BE49-F238E27FC236}">
                <a16:creationId xmlns:a16="http://schemas.microsoft.com/office/drawing/2014/main" id="{696F88CE-C8E9-07BC-C4CD-3164161ED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206" y="2952884"/>
            <a:ext cx="4318136" cy="21590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Anatomy of a Role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tasks/ - the main list of tasks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templates/ - Jinja2 templates the role uses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defaults/ and vars/ - the role's variables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handlers/ - handlers the role can notify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meta/ - role metadata and dependencies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34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AB07D8-B79A-1CAB-A37E-9F4B2DC2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917" y="1951372"/>
            <a:ext cx="8279891" cy="40249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Creating a Role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Scaffold with: ansible-galaxy init base_config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It builds the standard directory structure for you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Fill in tasks/main.yml with the work to do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Add templates and defaults as needed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each role focused on one job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9E5504-D540-5A96-A315-B51C51A6B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374" y="2176629"/>
            <a:ext cx="777240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Role Variables and Defaults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defaults/main.yml - sensible values, easily overridden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vars/main.yml - stronger values, harder to override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Override role variables from inventory or the playbook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Document the variables a role expects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Good defaults make a role easy to reuse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4873C-1E20-4E94-FA6C-F02CD565C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520" y="1951372"/>
            <a:ext cx="743778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Using Roles in a Playbook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List roles under the roles key in a play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runs each role's tasks in order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Pass variables to a role when you call 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Combine several roles to build a full configuration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Playbooks become short and readable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37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969C1-D510-49A7-477A-244280696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258" y="2136769"/>
            <a:ext cx="8694846" cy="38039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Sharing Roles with Galaxy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Galaxy hosts community and vendor roles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Install with ansible-galaxy role install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Declare dependencies in meta/main.yml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Reuse trusted roles instead of reinventing them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Always review a role before you run it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38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AF0073-330A-4177-4CC1-3998B36F9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902945"/>
            <a:ext cx="8869017" cy="42497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scaffolds the standard directory structure for a new role?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ansible-galaxy collection install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ansible-playbook --init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ansible-galaxy init base_config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ansible-role new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B28A1-F532-4810-8899-82C91B6CED4C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Which command scaffolds the standard directory structure for a new role?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ansible-galaxy collection install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ansible-playbook --init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ansible-galaxy init base_config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ansible-role new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F6AB-B395-4405-B034-BC36D0BC9981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Ansible Vault and Secrets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Why Secrets Need Protecting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Playbooks often need passwords, keys, and enable secrets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Never commit plain-text secrets to Git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Leaked credentials are a serious security risk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Vault encrypts secrets at rest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Encrypted files are safe to store in version control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42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236714-135C-1DDC-5821-807F245C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057912"/>
            <a:ext cx="8643730" cy="39617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Encrypting Files with Vault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ansible-vault encrypt secrets.yml scrambles the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ansible-vault edit changes it without decrypting to disk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ansible-vault view reads it safely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decrypt reverses it when you truly need to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The file is unreadable without the vault password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43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2E1038-9923-1E70-D6A2-CA2F0179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041" y="1902945"/>
            <a:ext cx="8074751" cy="398130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Encrypting Single Values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encrypt_string encrypts one value, not a whole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Paste the encrypted blob directly into a vars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Mix encrypted and plain values in the same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Handy for a single password among normal settings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Keeps most of the file human-readable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44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BA843A-4599-ABD4-0399-484D02B8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131" y="2203617"/>
            <a:ext cx="7772400" cy="36703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Running Playbooks with Vault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Supply the password with --ask-vault-pass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Or point to a file with --vault-password-file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decrypts secrets in memory at runtime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Use vault IDs to manage multiple passwords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In CI, read the password from a protected source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45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49BFD8-726A-EBD5-51DA-52FAFDFF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869" y="2176629"/>
            <a:ext cx="7772400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Vault Best Practices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Keep secrets in dedicated vault files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Never print secrets - use no_log on sensitive tasks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Rotate the vault password periodically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Limit who can read the vault password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Design so a leak is recoverable, not catastrophic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46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376EB3-86AA-55EF-2775-4C8510BFC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861" y="2214412"/>
            <a:ext cx="7772400" cy="364871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Writing Scalable Playbooks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Tags - Running Part of a Playbook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 tasks, then run only the tags you want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Command: ansible-playbook site.yml --tags vlans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Skip sections with --skip-tags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Test one part without running the whole playbook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Essential as playbooks grow large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48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A1F3DF-1FC2-42C7-CBDC-8B313AAEC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618" y="1951372"/>
            <a:ext cx="7772400" cy="38430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Blocks - Grouping Tasks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 block groups related tasks together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Apply one condition or tag to a whole group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rescue runs if any task in the block fails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always runs no matter what happens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Structured error handling for network changes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49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0CD2E-222D-CEAD-2145-7AF43692A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615" y="1737845"/>
            <a:ext cx="9171821" cy="433113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Error Handling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By default a failed task stops that host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ignore_errors: true keeps going on failure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failed_when defines what counts as failure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changed_when controls when a task reports changed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Handle expected errors gracefully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50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5A694B-EC8A-B880-4F81-C5FF573A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539" y="1902945"/>
            <a:ext cx="9326820" cy="401571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Controlling Rollout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01599" y="1951372"/>
            <a:ext cx="6961810" cy="4174791"/>
          </a:xfrm>
        </p:spPr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serial limits how many hosts run at once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Roll changes out in small batches, not all at once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Catch a bad change before it hits every device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throttle limits parallel work on the control node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Safer large-scale change windows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51</a:t>
            </a:fld>
            <a:endParaRPr lang="en-US"/>
          </a:p>
        </p:txBody>
      </p:sp>
      <p:sp>
        <p:nvSpPr>
          <p:cNvPr id="950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9216AE-4DC8-B0A6-2490-AB1FCCC8F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796" y="1951372"/>
            <a:ext cx="9196041" cy="40360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9542" y="3203141"/>
            <a:ext cx="106729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The Day 2 Labs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Environment Recap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Same AWS lab: control-node plus c8kv-1 and c8kv-2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Start your stopped router instances before you begin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Wait for IOS-XE to finish booting (4 to 6 minutes)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Work from the control node, as in Day 1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Stop the routers again when you finish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04: Variables and Templates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Use variables and a Jinja2 template to generate per-router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Create group_vars/routers.yml and a host_vars file per router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Write a Jinja2 template for hostname and interface 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Render it with the template module on the control node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Push the rendered config with ios_config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Verify each router received its own values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05: Building a Role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Package your configuration work into a reusable role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Scaffold a role with ansible-galaxy init base_config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Move tasks, templates, and defaults into the role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Call the role from a short playbook against both routers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Override a default variable for one router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the role produces the same result as before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Lab 06: Securing Secrets with Vault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Goal: Move device credentials into an encrypted Vault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Steps: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Put login and enable secrets in a group_vars vault file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Encrypt it with ansible-vault encrypt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Reference the encrypted variables from your playbook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Run the playbook with --ask-vault-pass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0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Confirm secrets never appear in output or in Git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You need to run only the VLAN tasks in a large playbook. What is the cleanest way?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Comment out every other task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Split the playbook into ten files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Tag those tasks and run with --tags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Use check mode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10B6-DCD5-45F6-98D7-00CC4FC5967A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0346067" y="5015134"/>
            <a:ext cx="1906548" cy="79013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74666" y="1214468"/>
            <a:ext cx="10539125" cy="199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You need to run only the VLAN tasks in a large playbook. What is the cleanest way?</a:t>
            </a:r>
          </a:p>
          <a:p>
            <a:endParaRPr lang="en-US" dirty="0">
              <a:latin typeface="Nirmala UI Semilight" panose="020B0402040204020203" pitchFamily="34" charset="0"/>
              <a:ea typeface="Nirmala UI Semilight" panose="020B0402040204020203" pitchFamily="34" charset="0"/>
              <a:cs typeface="Nirmala UI Semilight" panose="020B0402040204020203" pitchFamily="34" charset="0"/>
            </a:endParaRP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A.  Comment out every other task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B.  Split the playbook into ten files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C.  </a:t>
            </a:r>
            <a:r>
              <a:rPr lang="en-US" b="1" dirty="0">
                <a:highlight>
                  <a:srgbClr val="FFFF00"/>
                </a:highlight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 those tasks and run with --tags</a:t>
            </a:r>
          </a:p>
          <a:p>
            <a:r>
              <a:rPr lang="en-US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D.  Use check mode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92876"/>
            <a:ext cx="4572000" cy="28384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dirty="0"/>
              <a:t>© 2026 by Innovation In Software Corporation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76F1-95F5-4B51-AFAC-41833E3134C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315680"/>
            <a:ext cx="1077350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Day 2 Summary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Variables and facts make playbooks dynamic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Jinja2 templates generate configuration from data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Roles package automation for reuse and sharing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Vault keeps secrets encrypted and safe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Tags, blocks, and serial make large rollouts manageable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2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Tomorrow: Python for networking - Netmiko, NAPALM, REST APIs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341521" y="1572745"/>
            <a:ext cx="14001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Virtuali</a:t>
            </a:r>
            <a:r>
              <a:rPr sz="2000" spc="-35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2000" spc="-2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000" spc="-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9600" y="138702"/>
            <a:ext cx="121216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pc="-5" dirty="0">
                <a:latin typeface="Leelawadee UI" panose="020B0502040204020203" pitchFamily="34" charset="-34"/>
              </a:rPr>
              <a:t>Resources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9427" y="1387488"/>
            <a:ext cx="11380974" cy="4005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docs - templating, roles, and vault guides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Jinja2 documentation - filters and template syntax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Ansible Galaxy - browse community roles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Practice: convert a Day 1 playbook into a role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sz="2400" dirty="0">
                <a:latin typeface="Nirmala UI Semilight" panose="020B0402040204020203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rPr>
              <a:t>Day 3 preview: Python automation with Netmiko and NAPALM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</a:rPr>
              <a:t>© 2026 by Innovation In Software Corporation 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624C5-FDF6-4954-B8C3-64918F306FAA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fc950-ce8b-4368-ba1f-50a696573338" xsi:nil="true"/>
    <lcf76f155ced4ddcb4097134ff3c332f xmlns="43c38521-ebb8-463a-b3a6-3489c212a8d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65DB60A2A340AA3DE20CE3F38BF3" ma:contentTypeVersion="11" ma:contentTypeDescription="Create a new document." ma:contentTypeScope="" ma:versionID="f166546885502db4352d4c921b2a9521">
  <xsd:schema xmlns:xsd="http://www.w3.org/2001/XMLSchema" xmlns:xs="http://www.w3.org/2001/XMLSchema" xmlns:p="http://schemas.microsoft.com/office/2006/metadata/properties" xmlns:ns2="43c38521-ebb8-463a-b3a6-3489c212a8dd" xmlns:ns3="c50fc950-ce8b-4368-ba1f-50a696573338" targetNamespace="http://schemas.microsoft.com/office/2006/metadata/properties" ma:root="true" ma:fieldsID="0db14a3718d9246ba2e15cb3805e1e65" ns2:_="" ns3:_="">
    <xsd:import namespace="43c38521-ebb8-463a-b3a6-3489c212a8dd"/>
    <xsd:import namespace="c50fc950-ce8b-4368-ba1f-50a6965733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38521-ebb8-463a-b3a6-3489c212a8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fcb8236-1807-4752-b30f-050d9d4b9b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fc950-ce8b-4368-ba1f-50a6965733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18a8d4-1b31-430b-b52a-9696e830da40}" ma:internalName="TaxCatchAll" ma:showField="CatchAllData" ma:web="c50fc950-ce8b-4368-ba1f-50a6965733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5883B-1F0E-43E7-A00A-5782E35002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AF023A-22CA-4691-87BD-C8B42E6FD9DD}">
  <ds:schemaRefs>
    <ds:schemaRef ds:uri="3295d3db-25d5-4f3c-8570-33caabf209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50fc950-ce8b-4368-ba1f-50a696573338"/>
    <ds:schemaRef ds:uri="43c38521-ebb8-463a-b3a6-3489c212a8dd"/>
  </ds:schemaRefs>
</ds:datastoreItem>
</file>

<file path=customXml/itemProps3.xml><?xml version="1.0" encoding="utf-8"?>
<ds:datastoreItem xmlns:ds="http://schemas.openxmlformats.org/officeDocument/2006/customXml" ds:itemID="{7C26A85F-03FA-45D3-85EA-1BD106F7E1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c38521-ebb8-463a-b3a6-3489c212a8dd"/>
    <ds:schemaRef ds:uri="c50fc950-ce8b-4368-ba1f-50a6965733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0439113-2718-46f3-8896-3f7b5851f011}" enabled="0" method="" siteId="{20439113-2718-46f3-8896-3f7b5851f01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12174</TotalTime>
  <Words>6132</Words>
  <Application>Microsoft Macintosh PowerPoint</Application>
  <PresentationFormat>Widescreen</PresentationFormat>
  <Paragraphs>755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Arial Black</vt:lpstr>
      <vt:lpstr>Arial Black (Headings)</vt:lpstr>
      <vt:lpstr>Calibri</vt:lpstr>
      <vt:lpstr>Courier New</vt:lpstr>
      <vt:lpstr>Gadugi</vt:lpstr>
      <vt:lpstr>Leelawadee</vt:lpstr>
      <vt:lpstr>Leelawadee UI</vt:lpstr>
      <vt:lpstr>Leelawadee UI Semilight</vt:lpstr>
      <vt:lpstr>Nirmala UI Semilight</vt:lpstr>
      <vt:lpstr>Wingdings</vt:lpstr>
      <vt:lpstr>Essential</vt:lpstr>
      <vt:lpstr>PowerPoint Presentation</vt:lpstr>
      <vt:lpstr>PowerPoint Presentation</vt:lpstr>
      <vt:lpstr>Where Day 1 Left Off</vt:lpstr>
      <vt:lpstr>Agenda for Day 2</vt:lpstr>
      <vt:lpstr>Variables and Facts</vt:lpstr>
      <vt:lpstr>Why Variables Matter</vt:lpstr>
      <vt:lpstr>Where Variables Live</vt:lpstr>
      <vt:lpstr>host_vars and group_vars</vt:lpstr>
      <vt:lpstr>Variable Precedence</vt:lpstr>
      <vt:lpstr>Registering Output</vt:lpstr>
      <vt:lpstr>Facts and set_fact</vt:lpstr>
      <vt:lpstr>Magic Variables</vt:lpstr>
      <vt:lpstr>PowerPoint Presentation</vt:lpstr>
      <vt:lpstr>PowerPoint Presentation</vt:lpstr>
      <vt:lpstr>Jinja2 Templating</vt:lpstr>
      <vt:lpstr>What Is Jinja2?</vt:lpstr>
      <vt:lpstr>The template Module</vt:lpstr>
      <vt:lpstr>Jinja2 Expressions</vt:lpstr>
      <vt:lpstr>Jinja2 Filters</vt:lpstr>
      <vt:lpstr>Jinja2 Loops</vt:lpstr>
      <vt:lpstr>Jinja2 Conditionals</vt:lpstr>
      <vt:lpstr>Generating Device Configs</vt:lpstr>
      <vt:lpstr>PowerPoint Presentation</vt:lpstr>
      <vt:lpstr>PowerPoint Presentation</vt:lpstr>
      <vt:lpstr>Loops, Conditionals, and Handlers</vt:lpstr>
      <vt:lpstr>Loops in Tasks</vt:lpstr>
      <vt:lpstr>Conditionals with when</vt:lpstr>
      <vt:lpstr>Combining Loops and Conditionals</vt:lpstr>
      <vt:lpstr>Handlers and notify</vt:lpstr>
      <vt:lpstr>PowerPoint Presentation</vt:lpstr>
      <vt:lpstr>PowerPoint Presentation</vt:lpstr>
      <vt:lpstr>Roles</vt:lpstr>
      <vt:lpstr>Why Roles?</vt:lpstr>
      <vt:lpstr>Anatomy of a Role</vt:lpstr>
      <vt:lpstr>Creating a Role</vt:lpstr>
      <vt:lpstr>Role Variables and Defaults</vt:lpstr>
      <vt:lpstr>Using Roles in a Playbook</vt:lpstr>
      <vt:lpstr>Sharing Roles with Galaxy</vt:lpstr>
      <vt:lpstr>PowerPoint Presentation</vt:lpstr>
      <vt:lpstr>PowerPoint Presentation</vt:lpstr>
      <vt:lpstr>Ansible Vault and Secrets</vt:lpstr>
      <vt:lpstr>Why Secrets Need Protecting</vt:lpstr>
      <vt:lpstr>Encrypting Files with Vault</vt:lpstr>
      <vt:lpstr>Encrypting Single Values</vt:lpstr>
      <vt:lpstr>Running Playbooks with Vault</vt:lpstr>
      <vt:lpstr>Vault Best Practices</vt:lpstr>
      <vt:lpstr>Writing Scalable Playbooks</vt:lpstr>
      <vt:lpstr>Tags - Running Part of a Playbook</vt:lpstr>
      <vt:lpstr>Blocks - Grouping Tasks</vt:lpstr>
      <vt:lpstr>Error Handling</vt:lpstr>
      <vt:lpstr>Controlling Rollout</vt:lpstr>
      <vt:lpstr>The Day 2 Labs</vt:lpstr>
      <vt:lpstr>Lab Environment Recap</vt:lpstr>
      <vt:lpstr>Lab 04: Variables and Templates</vt:lpstr>
      <vt:lpstr>Lab 05: Building a Role</vt:lpstr>
      <vt:lpstr>Lab 06: Securing Secrets with Vault</vt:lpstr>
      <vt:lpstr>PowerPoint Presentation</vt:lpstr>
      <vt:lpstr>PowerPoint Presentation</vt:lpstr>
      <vt:lpstr>Day 2 Summary</vt:lpstr>
      <vt:lpstr>Resources and What's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Donis Marshall</dc:creator>
  <cp:lastModifiedBy>Tommy Shorez</cp:lastModifiedBy>
  <cp:revision>28</cp:revision>
  <cp:lastPrinted>2022-09-12T00:43:32Z</cp:lastPrinted>
  <dcterms:created xsi:type="dcterms:W3CDTF">2016-09-10T10:34:19Z</dcterms:created>
  <dcterms:modified xsi:type="dcterms:W3CDTF">2026-07-16T22:22:35Z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0x01010008EF65DB60A2A340AA3DE20CE3F38BF3</vt:lpwstr>
  </property>
  <property fmtid="{D5CDD505-2E9C-101B-9397-08002B2CF9AE}" pid="3" name="MediaServiceImageTags">
    <vt:lpwstr/>
  </property>
  <property fmtid="{D5CDD505-2E9C-101B-9397-08002B2CF9AE}" pid="4" name="Order">
    <vt:lpwstr>48900.0000000000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_SharedFileIndex">
    <vt:lpwstr/>
  </property>
  <property fmtid="{D5CDD505-2E9C-101B-9397-08002B2CF9AE}" pid="12" name="_SourceUrl">
    <vt:lpwstr/>
  </property>
</Properties>
</file>